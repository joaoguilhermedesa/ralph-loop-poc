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Backend cases (of 56)</c:v>
                </c:pt>
              </c:strCache>
            </c:strRef>
          </c:tx>
          <c:spPr>
            <a:solidFill>
              <a:srgbClr val="13704f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2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25</c:v>
                </c:pt>
                <c:pt idx="4">
                  <c:v>42</c:v>
                </c:pt>
                <c:pt idx="5">
                  <c:v>52</c:v>
                </c:pt>
                <c:pt idx="6">
                  <c:v>56</c:v>
                </c:pt>
                <c:pt idx="7">
                  <c:v>56</c:v>
                </c:pt>
                <c:pt idx="8">
                  <c:v>56</c:v>
                </c:pt>
                <c:pt idx="9">
                  <c:v>56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Frontend checks (of 12)</c:v>
                </c:pt>
              </c:strCache>
            </c:strRef>
          </c:tx>
          <c:spPr>
            <a:solidFill>
              <a:srgbClr val="9a6410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2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9</c:v>
                </c:pt>
                <c:pt idx="9">
                  <c:v>12</c:v>
                </c:pt>
              </c:numCache>
            </c:numRef>
          </c:val>
        </c:ser>
        <c:gapWidth val="45"/>
        <c:overlap val="100"/>
        <c:axId val="52525628"/>
        <c:axId val="67178563"/>
      </c:barChart>
      <c:catAx>
        <c:axId val="5252562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1200" strike="noStrike" u="none">
                    <a:solidFill>
                      <a:srgbClr val="4e5a66"/>
                    </a:solidFill>
                    <a:uFillTx/>
                    <a:latin typeface="Arial"/>
                  </a:rPr>
                  <a:t>iteration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300" strike="noStrike" u="none">
                <a:solidFill>
                  <a:srgbClr val="141a21"/>
                </a:solidFill>
                <a:uFillTx/>
                <a:latin typeface="Courier New"/>
              </a:defRPr>
            </a:pPr>
          </a:p>
        </c:txPr>
        <c:crossAx val="67178563"/>
        <c:crosses val="autoZero"/>
        <c:auto val="1"/>
        <c:lblAlgn val="ctr"/>
        <c:lblOffset val="100"/>
        <c:noMultiLvlLbl val="0"/>
      </c:catAx>
      <c:valAx>
        <c:axId val="67178563"/>
        <c:scaling>
          <c:orientation val="minMax"/>
          <c:max val="70"/>
          <c:min val="0"/>
        </c:scaling>
        <c:delete val="0"/>
        <c:axPos val="l"/>
        <c:majorGridlines>
          <c:spPr>
            <a:ln w="12600">
              <a:solidFill>
                <a:srgbClr val="d9dee4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trike="noStrike" u="none">
                <a:solidFill>
                  <a:srgbClr val="4e5a66"/>
                </a:solidFill>
                <a:uFillTx/>
                <a:latin typeface="Courier New"/>
              </a:defRPr>
            </a:pPr>
          </a:p>
        </c:txPr>
        <c:crossAx val="52525628"/>
        <c:crosses val="autoZero"/>
        <c:crossBetween val="between"/>
        <c:majorUnit val="10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1400" strike="noStrike" u="none">
              <a:solidFill>
                <a:srgbClr val="141a21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5A7433B-DB8D-4220-9DD0-62A6FF35DB93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 — The Ralph Loop · 0:00–0:20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"In its simplest form, Ralph is one line of shell: pipe the same prompt into 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coding agent, forever. Every cycle starts with an empty conversation, yet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work keeps moving. In five minutes: why that works, what keeps it honest, and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it stops working."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36FD12-9937-4AD6-8319-75C9F92D670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 — Why restart the context · 0:20–0:50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"Why throw the conversation away? In one long session the context fills with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old attempts and tool output, and quality tends to drop as it fills.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Summarising the conversation helps, but a summary loses exactly the details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that mattered. The loop does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opposite: every iteration gets a clean window, reads only what it needs,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and does one backlog item, small enough to finish while the context is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still clean."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8BE122-36CD-4CAA-B7CA-41185C06A27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 — The repository is the memory · 0:50–1:20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"So the memory has to live somewhere else: in the files. The spec says what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build, the backlog says what remains, the journal says what happened, and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Git keeps the checkpoints. The prompt repeats; the files change. The next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agent finds the finished items already ticked off."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F8D912-E2C9-4DBB-BAAF-B756AFE60AA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 — Backpressure · 1:20–1:45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"What steers the loop is backpressure: every check that can say no.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Compilers, tests, and above all an oracle: an answer key of tests a person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writes before the loop starts, which the agent is not allowed to edit.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agent never has to be trusted to say it is done — the checks decide. In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run you are about to see, that is 68 checks. For example: a Knight created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 level 8 must have exactly 255 hitpoints."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1D38D3-CD4C-48D7-99DD-C35DE9B4CFE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 — A real run · 1:45–2:50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"This is a real run, recorded and sped up: character creation for an Open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Tibia server: a web page and its server. I wrote the spec and the 68 checks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first, and proved they could pass. The loop did the rest."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Play the recording. While it runs: "Each block is one iteration: a fresh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agent, one backlog item, then the checks. Watch the score line. At iteration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 the backend is 56 out of 56 and the state is still RED, because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frontend checks have not passed. Only the checks decide when it is done."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When it finishes: "Ten iterations, fifty-three minutes, ten commits, one per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backlog item. No stalls, no regressions, and the agent never touched the answer key.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is one run, with no baseline, so it is not a productivity claim."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If the video fails, stay on the slide: the chart is the same run.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3918F9-9E2B-414A-87CB-1A2DB84423F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 — Failure modes and guardrails · 2:50–3:35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"Loops fail in predictable ways, and each has a guardrail. An agent that edits a test to make it pass: forbid it in the prompt, and look at test changes when you review — our runner went further and halted on any edit. Breaking what used to work: run the whole test suite every iteration, not just the new tests. Making no progress: set a budget, and stop when nothing changes."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"Three failures no script catches, so they're on you. Check the work, not the claim. When it misses a requirement, write the test it never saw. And run it in a container — our run had my machine and my permissions."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5A0981-4B16-4383-8494-0BA6EC4CB9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 — You steer the loop, not the code · 3:35–4:05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"Your job moves to the edges of the loop. Reorder the backlog to change what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it does next. When it fails the same way twice, don't fix the code by hand; add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line to the prompt so no future iteration makes that mistake — Huntley calls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these signs. When a green result is still wrong, add the check that would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have caught it: our run finished at 68 out of 68 with a production build that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did not compile, because nothing checked the build. And read the checkpoints: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Git log is your review queue."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58A272-F6A3-440C-850A-1E8D1662212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8 — When to use it · 4:05–4:30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"It fits work that splits into steps with cheap checks: migrations, codemods,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spec with executable acceptance tests. It does not decide what to build, or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settle taste, and one-way doors still need a person. And you don't need our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whole setup to start. Ours is the strict end, because I had to prove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result. Start with the compiler and the tests you already have, and tighten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checks each time the loop fools you."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34EFAE-A72E-462F-96AE-84099654FD4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9 — Hasn't multi-agent replaced this? · 4:30–4:45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"You may be wondering whether multi-agent setups replaced this. They solve 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different problem. Ralph keeps one agent sharp across a long task; an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orchestrator splits work across many agents. They compose: each worker in 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team is still running a loop like this one."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DD9A6E-9C18-44AC-ABA1-BA4320D279E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10 — Closing · 4:45–4:58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"Fresh context, state on disk, backpressure, and a human on the loop.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loop is one line; the quality comes from what you can verify. The original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idea is Geoffrey Huntley's."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There is almost no slack. If the video or slide 5 runs long, cut slide 9 to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its last sentence.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--- Short answers for Q&amp;A ---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Do I need all this set up before I start? No — slide 8 says it. Most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loops start with the compiler and existing tests; the agent writes its own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unit tests and you read the commits. The less you plan to watch, the more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checking you need in place first.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Does this prove it works with an LLM? It worked once, here: one run of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claude-sonnet-5 went from 0 to 68/68 in ten iterations and 53 minutes. That is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one sample on a well-specified task, not a benchmark.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What did it cost? About $9 at API list price, as Claude Code estimates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it. The run used a Claude subscription, so nothing was billed per token.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Did the agent do anything surprising? It found two bugs in the harness.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The prompt asked for unit tests, but the oracle counted every test report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and flagged the extra ones as tampering; the agent separated them in 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build config. It also logged, rather than fixed, a broken production build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that the oracle never checked. It spawned no subagents, though the prompt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invited it to.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Why not use one prompt? This run does not measure that comparison.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The hypothesis is that checkpoints make long tasks easier to inspect and resume.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Can the agent bypass the oracle? Hashes detect file changes; they do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not defend against a hostile process running with the same privileges.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Does a green score guarantee quality? Only the tested behaviour.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Human review and better tests remain necessary.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Isn't Ralph obsolete now that we have multi-agent orchestration? No;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they compose. Orchestrators (agent teams, subagents) split work and run it in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parallel; the loop is what each worker does with its piece: fresh context,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state on disk, checks as the exit condition. Anthropic ships a Ralph plugin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for Claude Code, and orchestrators such as ralph-orchestrator build on it.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How do I run it again? In tibia-charcreate, `ralph.ps1 -Reset`, then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`ralph.ps1 -Iterations 20 -Model &lt;id&gt;`. `.ralph/logs/run.csv` keeps every run.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744161-F6AB-4A21-AAC5-E0B43B89B30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67000" y="255960"/>
            <a:ext cx="7176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97a3b1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67000" y="932760"/>
            <a:ext cx="8009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29920" y="758520"/>
            <a:ext cx="80096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The Ralph Loop</a:t>
            </a:r>
            <a:endParaRPr b="0" lang="pt-BR" sz="5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3640" y="1586520"/>
            <a:ext cx="5851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A fresh agent context on every iteration.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The work continues in the repository.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567000" y="2545200"/>
            <a:ext cx="8009640" cy="603000"/>
          </a:xfrm>
          <a:prstGeom prst="roundRect">
            <a:avLst>
              <a:gd name="adj" fmla="val 9091"/>
            </a:avLst>
          </a:prstGeom>
          <a:solidFill>
            <a:srgbClr val="1a2129"/>
          </a:solidFill>
          <a:ln w="12700">
            <a:solidFill>
              <a:srgbClr val="2a34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833400" y="2545200"/>
            <a:ext cx="7643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7a3b1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b="0" lang="en-US" sz="1800" strike="noStrike" u="none">
                <a:solidFill>
                  <a:srgbClr val="3dbe8b"/>
                </a:solidFill>
                <a:effectLst/>
                <a:uFillTx/>
                <a:latin typeface="Courier New"/>
                <a:ea typeface="Courier New"/>
              </a:rPr>
              <a:t>while :; do </a:t>
            </a:r>
            <a:r>
              <a:rPr b="0" lang="en-US" sz="1800" strike="noStrike" u="none">
                <a:solidFill>
                  <a:srgbClr val="e9edf2"/>
                </a:solidFill>
                <a:effectLst/>
                <a:uFillTx/>
                <a:latin typeface="Courier New"/>
                <a:ea typeface="Courier New"/>
              </a:rPr>
              <a:t>cat PROMPT.md | claude -p</a:t>
            </a:r>
            <a:r>
              <a:rPr b="0" lang="en-US" sz="1800" strike="noStrike" u="none">
                <a:solidFill>
                  <a:srgbClr val="3dbe8b"/>
                </a:solidFill>
                <a:effectLst/>
                <a:uFillTx/>
                <a:latin typeface="Courier New"/>
                <a:ea typeface="Courier New"/>
              </a:rPr>
              <a:t> ; done</a:t>
            </a: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72040" y="3255480"/>
            <a:ext cx="6491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The whole idea, in its simplest form.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4"/>
          <p:cNvSpPr/>
          <p:nvPr/>
        </p:nvSpPr>
        <p:spPr>
          <a:xfrm>
            <a:off x="567000" y="4407480"/>
            <a:ext cx="4663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This demo adds its own guardrails to that loop pattern.</a:t>
            </a:r>
            <a:endParaRPr b="1" lang="pt-BR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567000" y="255960"/>
            <a:ext cx="6441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Why restart the context?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567000" y="14446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a8352a"/>
                </a:solidFill>
                <a:effectLst/>
                <a:uFillTx/>
                <a:latin typeface="Courier New"/>
                <a:ea typeface="Courier New"/>
              </a:rPr>
              <a:t>ONE LONG SESSION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567000" y="196596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841320" y="184716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Context fills up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841320" y="219456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Old attempts and tool output pile up.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6"/>
          <p:cNvSpPr/>
          <p:nvPr/>
        </p:nvSpPr>
        <p:spPr>
          <a:xfrm>
            <a:off x="567000" y="286200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841320" y="274320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Quality drifts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8"/>
          <p:cNvSpPr/>
          <p:nvPr/>
        </p:nvSpPr>
        <p:spPr>
          <a:xfrm>
            <a:off x="841320" y="309060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It tends to drop as the window fills.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9"/>
          <p:cNvSpPr/>
          <p:nvPr/>
        </p:nvSpPr>
        <p:spPr>
          <a:xfrm>
            <a:off x="567000" y="375804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0"/>
          <p:cNvSpPr/>
          <p:nvPr/>
        </p:nvSpPr>
        <p:spPr>
          <a:xfrm>
            <a:off x="841320" y="36392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Compaction is lossy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841320" y="39866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Summaries drop the details that matter.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2"/>
          <p:cNvSpPr/>
          <p:nvPr/>
        </p:nvSpPr>
        <p:spPr>
          <a:xfrm>
            <a:off x="4736520" y="14446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A LOOP OF FRESH CONTEXTS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3"/>
          <p:cNvSpPr/>
          <p:nvPr/>
        </p:nvSpPr>
        <p:spPr>
          <a:xfrm>
            <a:off x="4736520" y="196596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4"/>
          <p:cNvSpPr/>
          <p:nvPr/>
        </p:nvSpPr>
        <p:spPr>
          <a:xfrm>
            <a:off x="5010840" y="184716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A clean window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5"/>
          <p:cNvSpPr/>
          <p:nvPr/>
        </p:nvSpPr>
        <p:spPr>
          <a:xfrm>
            <a:off x="5010840" y="219456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Every iteration starts empty.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6"/>
          <p:cNvSpPr/>
          <p:nvPr/>
        </p:nvSpPr>
        <p:spPr>
          <a:xfrm>
            <a:off x="4736520" y="286200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7"/>
          <p:cNvSpPr/>
          <p:nvPr/>
        </p:nvSpPr>
        <p:spPr>
          <a:xfrm>
            <a:off x="5010840" y="274320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Reads only what it needs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8"/>
          <p:cNvSpPr/>
          <p:nvPr/>
        </p:nvSpPr>
        <p:spPr>
          <a:xfrm>
            <a:off x="5010840" y="309060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Spec, backlog and journal, from disk.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9"/>
          <p:cNvSpPr/>
          <p:nvPr/>
        </p:nvSpPr>
        <p:spPr>
          <a:xfrm>
            <a:off x="4736520" y="37580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0"/>
          <p:cNvSpPr/>
          <p:nvPr/>
        </p:nvSpPr>
        <p:spPr>
          <a:xfrm>
            <a:off x="5010840" y="36392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One item per iteration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1"/>
          <p:cNvSpPr/>
          <p:nvPr/>
        </p:nvSpPr>
        <p:spPr>
          <a:xfrm>
            <a:off x="5010840" y="39866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Small enough to finish while sharp.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67000" y="255960"/>
            <a:ext cx="7227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The repository is the memory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"/>
          <p:cNvSpPr/>
          <p:nvPr/>
        </p:nvSpPr>
        <p:spPr>
          <a:xfrm>
            <a:off x="567000" y="1627560"/>
            <a:ext cx="4187520" cy="2084400"/>
          </a:xfrm>
          <a:prstGeom prst="roundRect">
            <a:avLst>
              <a:gd name="adj" fmla="val 2193"/>
            </a:avLst>
          </a:prstGeom>
          <a:solidFill>
            <a:srgbClr val="0f1419"/>
          </a:solidFill>
          <a:ln w="12700">
            <a:solidFill>
              <a:srgbClr val="0f14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"/>
          <p:cNvSpPr/>
          <p:nvPr/>
        </p:nvSpPr>
        <p:spPr>
          <a:xfrm>
            <a:off x="859680" y="1865520"/>
            <a:ext cx="37486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3dbe8b"/>
                </a:solidFill>
                <a:effectLst/>
                <a:uFillTx/>
                <a:latin typeface="Courier New"/>
                <a:ea typeface="Courier New"/>
              </a:rPr>
              <a:t>while budget remains: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e9edf2"/>
                </a:solidFill>
                <a:effectLst/>
                <a:uFillTx/>
                <a:latin typeface="Courier New"/>
                <a:ea typeface="Courier New"/>
              </a:rPr>
              <a:t>    start agent, fresh context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e9edf2"/>
                </a:solidFill>
                <a:effectLst/>
                <a:uFillTx/>
                <a:latin typeface="Courier New"/>
                <a:ea typeface="Courier New"/>
              </a:rPr>
              <a:t>    work on one backlog item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e9edf2"/>
                </a:solidFill>
                <a:effectLst/>
                <a:uFillTx/>
                <a:latin typeface="Courier New"/>
                <a:ea typeface="Courier New"/>
              </a:rPr>
              <a:t>    verify, then checkpoint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67000" y="3840480"/>
            <a:ext cx="4187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prompt repeats. The files change.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5"/>
          <p:cNvSpPr/>
          <p:nvPr/>
        </p:nvSpPr>
        <p:spPr>
          <a:xfrm>
            <a:off x="5029200" y="178308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5303520" y="1664280"/>
            <a:ext cx="327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specs/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5303520" y="2011680"/>
            <a:ext cx="327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What the behaviour should be.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8"/>
          <p:cNvSpPr/>
          <p:nvPr/>
        </p:nvSpPr>
        <p:spPr>
          <a:xfrm>
            <a:off x="5029200" y="255132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9"/>
          <p:cNvSpPr/>
          <p:nvPr/>
        </p:nvSpPr>
        <p:spPr>
          <a:xfrm>
            <a:off x="5303520" y="2432160"/>
            <a:ext cx="327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fix_plan.md + journal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0"/>
          <p:cNvSpPr/>
          <p:nvPr/>
        </p:nvSpPr>
        <p:spPr>
          <a:xfrm>
            <a:off x="5303520" y="2779920"/>
            <a:ext cx="327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What is left, and what happened.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1"/>
          <p:cNvSpPr/>
          <p:nvPr/>
        </p:nvSpPr>
        <p:spPr>
          <a:xfrm>
            <a:off x="5029200" y="331920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2"/>
          <p:cNvSpPr/>
          <p:nvPr/>
        </p:nvSpPr>
        <p:spPr>
          <a:xfrm>
            <a:off x="5303520" y="3200400"/>
            <a:ext cx="327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git log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5303520" y="3547800"/>
            <a:ext cx="327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checkpoint history.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567000" y="255960"/>
            <a:ext cx="642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Backpressure: checks that can say no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567000" y="1572840"/>
            <a:ext cx="1389600" cy="785880"/>
          </a:xfrm>
          <a:prstGeom prst="roundRect">
            <a:avLst>
              <a:gd name="adj" fmla="val 9302"/>
            </a:avLst>
          </a:prstGeom>
          <a:solidFill>
            <a:srgbClr val="0f1419"/>
          </a:solidFill>
          <a:ln w="12700">
            <a:solidFill>
              <a:srgbClr val="0f14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640080" y="1572840"/>
            <a:ext cx="124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Agent's change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2002320" y="1965960"/>
            <a:ext cx="17388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2221920" y="1572840"/>
            <a:ext cx="1389600" cy="7858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2295000" y="1572840"/>
            <a:ext cx="124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Build + types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3657600" y="1965960"/>
            <a:ext cx="17352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3877200" y="1572840"/>
            <a:ext cx="1389600" cy="7858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3950280" y="1572840"/>
            <a:ext cx="124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Unit tests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0"/>
          <p:cNvSpPr/>
          <p:nvPr/>
        </p:nvSpPr>
        <p:spPr>
          <a:xfrm>
            <a:off x="5312520" y="1965960"/>
            <a:ext cx="17388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1"/>
          <p:cNvSpPr/>
          <p:nvPr/>
        </p:nvSpPr>
        <p:spPr>
          <a:xfrm>
            <a:off x="5532120" y="1572840"/>
            <a:ext cx="1389600" cy="7858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5605200" y="1572840"/>
            <a:ext cx="124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Oracle (answer key)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6967440" y="1965960"/>
            <a:ext cx="17388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7187040" y="1572840"/>
            <a:ext cx="1389600" cy="785880"/>
          </a:xfrm>
          <a:prstGeom prst="roundRect">
            <a:avLst>
              <a:gd name="adj" fmla="val 9302"/>
            </a:avLst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7260480" y="1572840"/>
            <a:ext cx="124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Checkpoint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567000" y="2541960"/>
            <a:ext cx="8009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a8352a"/>
                </a:solidFill>
                <a:effectLst/>
                <a:uFillTx/>
                <a:latin typeface="Calibri"/>
                <a:ea typeface="Calibri"/>
              </a:rPr>
              <a:t>Any gate says no  →  </a:t>
            </a:r>
            <a:r>
              <a:rPr b="0" lang="en-US" sz="1600" strike="noStrike" u="none">
                <a:solidFill>
                  <a:srgbClr val="141a21"/>
                </a:solidFill>
                <a:effectLst/>
                <a:uFillTx/>
                <a:latin typeface="Calibri"/>
                <a:ea typeface="Calibri"/>
              </a:rPr>
              <a:t>no checkpoint; the failure is on disk for the next iteration.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567000" y="324612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841320" y="312732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The checks decide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841320" y="347472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Not the agent's claim that it is done.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"/>
          <p:cNvSpPr/>
          <p:nvPr/>
        </p:nvSpPr>
        <p:spPr>
          <a:xfrm>
            <a:off x="4736520" y="324612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5010840" y="312732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Fast beats thorough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2"/>
          <p:cNvSpPr/>
          <p:nvPr/>
        </p:nvSpPr>
        <p:spPr>
          <a:xfrm>
            <a:off x="5010840" y="347472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checks run on every iteration.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3"/>
          <p:cNvSpPr/>
          <p:nvPr/>
        </p:nvSpPr>
        <p:spPr>
          <a:xfrm>
            <a:off x="567000" y="4316040"/>
            <a:ext cx="8009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In the real run:  56 backend cases  ·  12 frontend checks  ·  19 hashed files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567000" y="255960"/>
            <a:ext cx="6648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A real run: 0 to 68 in ten iterations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567000" y="1353240"/>
            <a:ext cx="8009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Character creation for an Open Tibia server  ·  claude-sonnet-5  ·  53 min  ·  ≈ $9 at API list price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Chart 0"/>
          <p:cNvGraphicFramePr/>
          <p:nvPr/>
        </p:nvGraphicFramePr>
        <p:xfrm>
          <a:off x="567000" y="1700640"/>
          <a:ext cx="8009640" cy="223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0" name="Text 3"/>
          <p:cNvSpPr/>
          <p:nvPr/>
        </p:nvSpPr>
        <p:spPr>
          <a:xfrm>
            <a:off x="567000" y="4060080"/>
            <a:ext cx="8009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Overall   </a:t>
            </a:r>
            <a:r>
              <a:rPr b="1" lang="en-US" sz="1600" strike="noStrike" u="none">
                <a:solidFill>
                  <a:srgbClr val="a8352a"/>
                </a:solidFill>
                <a:effectLst/>
                <a:uFillTx/>
                <a:latin typeface="Courier New"/>
                <a:ea typeface="Courier New"/>
              </a:rPr>
              <a:t>RED through 9, even at backend 56/56  ·  </a:t>
            </a:r>
            <a:r>
              <a:rPr b="1" lang="en-US" sz="1600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GREEN at 10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567000" y="4553640"/>
            <a:ext cx="8009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41a21"/>
                </a:solidFill>
                <a:effectLst/>
                <a:uFillTx/>
                <a:latin typeface="Courier New"/>
                <a:ea typeface="Courier New"/>
              </a:rPr>
              <a:t>0 stalls  ·  0 regressions  ·  0 tamper halts  ·  one run, no baseline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567000" y="255960"/>
            <a:ext cx="5743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Failure modes and guardrails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567000" y="137160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THE AGENT…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4480560" y="137160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THE GUARDRAIL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566640" y="17373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567000" y="17373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Edits the tests to pass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480560" y="19112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4754880" y="17373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41a21"/>
                </a:solidFill>
                <a:effectLst/>
                <a:uFillTx/>
                <a:latin typeface="Calibri"/>
                <a:ea typeface="Calibri"/>
              </a:rPr>
              <a:t>Forbid it in the prompt; review test changes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566640" y="21945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567000" y="21945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Breaks what already worked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4480560" y="23684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4754880" y="21945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41a21"/>
                </a:solidFill>
                <a:effectLst/>
                <a:uFillTx/>
                <a:latin typeface="Calibri"/>
                <a:ea typeface="Calibri"/>
              </a:rPr>
              <a:t>Run the whole test suite every iteration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2"/>
          <p:cNvSpPr/>
          <p:nvPr/>
        </p:nvSpPr>
        <p:spPr>
          <a:xfrm>
            <a:off x="566640" y="26517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567000" y="26517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Stops making progress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4"/>
          <p:cNvSpPr/>
          <p:nvPr/>
        </p:nvSpPr>
        <p:spPr>
          <a:xfrm>
            <a:off x="4480560" y="28256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4754880" y="26517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41a21"/>
                </a:solidFill>
                <a:effectLst/>
                <a:uFillTx/>
                <a:latin typeface="Calibri"/>
                <a:ea typeface="Calibri"/>
              </a:rPr>
              <a:t>Set a budget; stop when nothing changes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566640" y="31089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567000" y="31089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Ticks the box on a doc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8"/>
          <p:cNvSpPr/>
          <p:nvPr/>
        </p:nvSpPr>
        <p:spPr>
          <a:xfrm>
            <a:off x="4480560" y="328284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4754880" y="31089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8352a"/>
                </a:solidFill>
                <a:effectLst/>
                <a:uFillTx/>
                <a:latin typeface="Calibri"/>
                <a:ea typeface="Calibri"/>
              </a:rPr>
              <a:t>Check the work, not the claim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0"/>
          <p:cNvSpPr/>
          <p:nvPr/>
        </p:nvSpPr>
        <p:spPr>
          <a:xfrm>
            <a:off x="566640" y="35661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1"/>
          <p:cNvSpPr/>
          <p:nvPr/>
        </p:nvSpPr>
        <p:spPr>
          <a:xfrm>
            <a:off x="567000" y="35661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Misses unwritten requirements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2"/>
          <p:cNvSpPr/>
          <p:nvPr/>
        </p:nvSpPr>
        <p:spPr>
          <a:xfrm>
            <a:off x="4480560" y="374004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3"/>
          <p:cNvSpPr/>
          <p:nvPr/>
        </p:nvSpPr>
        <p:spPr>
          <a:xfrm>
            <a:off x="4754880" y="35661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8352a"/>
                </a:solidFill>
                <a:effectLst/>
                <a:uFillTx/>
                <a:latin typeface="Calibri"/>
                <a:ea typeface="Calibri"/>
              </a:rPr>
              <a:t>Write the test/specs it never saw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4"/>
          <p:cNvSpPr/>
          <p:nvPr/>
        </p:nvSpPr>
        <p:spPr>
          <a:xfrm>
            <a:off x="566640" y="4023360"/>
            <a:ext cx="8010360" cy="360"/>
          </a:xfrm>
          <a:prstGeom prst="line">
            <a:avLst/>
          </a:prstGeom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5"/>
          <p:cNvSpPr/>
          <p:nvPr/>
        </p:nvSpPr>
        <p:spPr>
          <a:xfrm>
            <a:off x="567000" y="4023360"/>
            <a:ext cx="3730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Reaches outside the workspace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4480560" y="419724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4754880" y="4023360"/>
            <a:ext cx="3821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a8352a"/>
                </a:solidFill>
                <a:effectLst/>
                <a:uFillTx/>
                <a:latin typeface="Calibri"/>
                <a:ea typeface="Calibri"/>
              </a:rPr>
              <a:t>Run it in a container or VM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567000" y="255960"/>
            <a:ext cx="684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You steer the loop, not the code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567000" y="176472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841320" y="164592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Reorder the backlog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841320" y="1993320"/>
            <a:ext cx="3565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cheapest way to change what it does next.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4736520" y="176472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010840" y="164592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Add a sign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5010840" y="1993320"/>
            <a:ext cx="3565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Same mistake twice? Add a line to the prompt, not a hand fix.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567000" y="29534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841320" y="28346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Tighten the oracle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841320" y="3182040"/>
            <a:ext cx="3565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Green but wrong? Add the test that would have caught it.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4736520" y="29534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5010840" y="28346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Read the checkpoints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5010840" y="3182040"/>
            <a:ext cx="3565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Git log is your review queue.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567000" y="255960"/>
            <a:ext cx="629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When to use it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567000" y="14446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GOOD CANDIDATES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567000" y="196596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841320" y="184716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Splits into testable steps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841320" y="219456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Each step is checked before the next.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567000" y="286200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841320" y="274320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API migrations, codemods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841320" y="309060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Work you would otherwise do by hand.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9"/>
          <p:cNvSpPr/>
          <p:nvPr/>
        </p:nvSpPr>
        <p:spPr>
          <a:xfrm>
            <a:off x="567000" y="37580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841320" y="36392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Clear spec, executable checks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841320" y="39866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check decides, not the prose.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2"/>
          <p:cNvSpPr/>
          <p:nvPr/>
        </p:nvSpPr>
        <p:spPr>
          <a:xfrm>
            <a:off x="4736520" y="14446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139" strike="noStrike" u="none">
                <a:solidFill>
                  <a:srgbClr val="a8352a"/>
                </a:solidFill>
                <a:effectLst/>
                <a:uFillTx/>
                <a:latin typeface="Courier New"/>
                <a:ea typeface="Courier New"/>
              </a:rPr>
              <a:t>NEEDS HUMAN JUDGMENT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3"/>
          <p:cNvSpPr/>
          <p:nvPr/>
        </p:nvSpPr>
        <p:spPr>
          <a:xfrm>
            <a:off x="4736520" y="196596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4"/>
          <p:cNvSpPr/>
          <p:nvPr/>
        </p:nvSpPr>
        <p:spPr>
          <a:xfrm>
            <a:off x="5010840" y="184716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What to build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5"/>
          <p:cNvSpPr/>
          <p:nvPr/>
        </p:nvSpPr>
        <p:spPr>
          <a:xfrm>
            <a:off x="5010840" y="219456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The loop makes no product decisions.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6"/>
          <p:cNvSpPr/>
          <p:nvPr/>
        </p:nvSpPr>
        <p:spPr>
          <a:xfrm>
            <a:off x="4736520" y="286200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7"/>
          <p:cNvSpPr/>
          <p:nvPr/>
        </p:nvSpPr>
        <p:spPr>
          <a:xfrm>
            <a:off x="5010840" y="274320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Taste and ambiguity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8"/>
          <p:cNvSpPr/>
          <p:nvPr/>
        </p:nvSpPr>
        <p:spPr>
          <a:xfrm>
            <a:off x="5010840" y="309060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API shape, or anything you'd argue about.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9"/>
          <p:cNvSpPr/>
          <p:nvPr/>
        </p:nvSpPr>
        <p:spPr>
          <a:xfrm>
            <a:off x="4736520" y="3758040"/>
            <a:ext cx="118440" cy="118440"/>
          </a:xfrm>
          <a:prstGeom prst="ellipse">
            <a:avLst/>
          </a:prstGeom>
          <a:solidFill>
            <a:srgbClr val="a8352a"/>
          </a:solidFill>
          <a:ln w="12700">
            <a:solidFill>
              <a:srgbClr val="a835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0"/>
          <p:cNvSpPr/>
          <p:nvPr/>
        </p:nvSpPr>
        <p:spPr>
          <a:xfrm>
            <a:off x="5010840" y="363924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Irreversible actions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1"/>
          <p:cNvSpPr/>
          <p:nvPr/>
        </p:nvSpPr>
        <p:spPr>
          <a:xfrm>
            <a:off x="5010840" y="39866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One-way doors still need a person.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2"/>
          <p:cNvSpPr/>
          <p:nvPr/>
        </p:nvSpPr>
        <p:spPr>
          <a:xfrm>
            <a:off x="567000" y="4535280"/>
            <a:ext cx="8009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141a21"/>
                </a:solidFill>
                <a:effectLst/>
                <a:uFillTx/>
                <a:latin typeface="Calibri"/>
                <a:ea typeface="Calibri"/>
              </a:rPr>
              <a:t>You don't need all this to start: begin with the checks you already have.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567000" y="255960"/>
            <a:ext cx="696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4e5a66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567000" y="640080"/>
            <a:ext cx="8009640" cy="67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Hasn't multi-agent replaced this?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"/>
          <p:cNvSpPr/>
          <p:nvPr/>
        </p:nvSpPr>
        <p:spPr>
          <a:xfrm>
            <a:off x="567000" y="1517760"/>
            <a:ext cx="2102760" cy="1371240"/>
          </a:xfrm>
          <a:prstGeom prst="roundRect">
            <a:avLst>
              <a:gd name="adj" fmla="val 5333"/>
            </a:avLst>
          </a:prstGeom>
          <a:solidFill>
            <a:srgbClr val="0f1419"/>
          </a:solidFill>
          <a:ln w="12700">
            <a:solidFill>
              <a:srgbClr val="0f141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567000" y="1517760"/>
            <a:ext cx="21027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Orchestrator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splits the work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"/>
          <p:cNvSpPr/>
          <p:nvPr/>
        </p:nvSpPr>
        <p:spPr>
          <a:xfrm>
            <a:off x="2669760" y="2203560"/>
            <a:ext cx="411480" cy="360"/>
          </a:xfrm>
          <a:prstGeom prst="line">
            <a:avLst/>
          </a:prstGeom>
          <a:ln w="19050">
            <a:solidFill>
              <a:srgbClr val="4e5a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3081240" y="1700640"/>
            <a:ext cx="360" cy="1005840"/>
          </a:xfrm>
          <a:prstGeom prst="line">
            <a:avLst/>
          </a:prstGeom>
          <a:ln w="19050">
            <a:solidFill>
              <a:srgbClr val="4e5a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3081240" y="1700640"/>
            <a:ext cx="36576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7"/>
          <p:cNvSpPr/>
          <p:nvPr/>
        </p:nvSpPr>
        <p:spPr>
          <a:xfrm>
            <a:off x="3493080" y="1517760"/>
            <a:ext cx="508356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3675960" y="1517760"/>
            <a:ext cx="480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41a21"/>
                </a:solidFill>
                <a:effectLst/>
                <a:uFillTx/>
                <a:latin typeface="Courier New"/>
                <a:ea typeface="Courier New"/>
              </a:rPr>
              <a:t>worker 1   </a:t>
            </a:r>
            <a:r>
              <a:rPr b="0" lang="en-US" sz="1300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fresh context → verify → commit ↻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9"/>
          <p:cNvSpPr/>
          <p:nvPr/>
        </p:nvSpPr>
        <p:spPr>
          <a:xfrm>
            <a:off x="3081240" y="2203560"/>
            <a:ext cx="36576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0"/>
          <p:cNvSpPr/>
          <p:nvPr/>
        </p:nvSpPr>
        <p:spPr>
          <a:xfrm>
            <a:off x="3493080" y="2020680"/>
            <a:ext cx="508356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3675960" y="2020680"/>
            <a:ext cx="480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41a21"/>
                </a:solidFill>
                <a:effectLst/>
                <a:uFillTx/>
                <a:latin typeface="Courier New"/>
                <a:ea typeface="Courier New"/>
              </a:rPr>
              <a:t>worker 2   </a:t>
            </a:r>
            <a:r>
              <a:rPr b="0" lang="en-US" sz="1300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fresh context → verify → commit ↻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2"/>
          <p:cNvSpPr/>
          <p:nvPr/>
        </p:nvSpPr>
        <p:spPr>
          <a:xfrm>
            <a:off x="3081240" y="2706480"/>
            <a:ext cx="365760" cy="360"/>
          </a:xfrm>
          <a:prstGeom prst="line">
            <a:avLst/>
          </a:prstGeom>
          <a:ln w="19050">
            <a:solidFill>
              <a:srgbClr val="4e5a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3"/>
          <p:cNvSpPr/>
          <p:nvPr/>
        </p:nvSpPr>
        <p:spPr>
          <a:xfrm>
            <a:off x="3493080" y="2523600"/>
            <a:ext cx="508356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e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3675960" y="2523600"/>
            <a:ext cx="480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41a21"/>
                </a:solidFill>
                <a:effectLst/>
                <a:uFillTx/>
                <a:latin typeface="Courier New"/>
                <a:ea typeface="Courier New"/>
              </a:rPr>
              <a:t>worker 3   </a:t>
            </a:r>
            <a:r>
              <a:rPr b="0" lang="en-US" sz="1300" strike="noStrike" u="none">
                <a:solidFill>
                  <a:srgbClr val="13704f"/>
                </a:solidFill>
                <a:effectLst/>
                <a:uFillTx/>
                <a:latin typeface="Courier New"/>
                <a:ea typeface="Courier New"/>
              </a:rPr>
              <a:t>fresh context → verify → commit ↻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5"/>
          <p:cNvSpPr/>
          <p:nvPr/>
        </p:nvSpPr>
        <p:spPr>
          <a:xfrm>
            <a:off x="567000" y="32828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841320" y="316368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Ralph: one agent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841320" y="35114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Many fresh passes beat the context limit.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8"/>
          <p:cNvSpPr/>
          <p:nvPr/>
        </p:nvSpPr>
        <p:spPr>
          <a:xfrm>
            <a:off x="4736520" y="3282840"/>
            <a:ext cx="118440" cy="118440"/>
          </a:xfrm>
          <a:prstGeom prst="ellipse">
            <a:avLst/>
          </a:prstGeom>
          <a:solidFill>
            <a:srgbClr val="13704f"/>
          </a:solidFill>
          <a:ln w="12700">
            <a:solidFill>
              <a:srgbClr val="137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5010840" y="3163680"/>
            <a:ext cx="35658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Multi-agent: many agents</a:t>
            </a:r>
            <a:endParaRPr b="0" lang="pt-B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5010840" y="3511440"/>
            <a:ext cx="3565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4e5a66"/>
                </a:solidFill>
                <a:effectLst/>
                <a:uFillTx/>
                <a:latin typeface="Calibri"/>
                <a:ea typeface="Calibri"/>
              </a:rPr>
              <a:t>Splits the work and runs it in parallel.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567000" y="4224600"/>
            <a:ext cx="8009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141a21"/>
                </a:solidFill>
                <a:effectLst/>
                <a:uFillTx/>
                <a:latin typeface="Arial"/>
                <a:ea typeface="Arial"/>
              </a:rPr>
              <a:t>They compose: each worker still runs a loop like this one.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567000" y="255960"/>
            <a:ext cx="67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99" strike="noStrike" u="none">
                <a:solidFill>
                  <a:srgbClr val="97a3b1"/>
                </a:solidFill>
                <a:effectLst/>
                <a:uFillTx/>
                <a:latin typeface="Courier New"/>
                <a:ea typeface="Courier New"/>
              </a:rPr>
              <a:t>https://github.com/JoaoGuilhermedeSa/ralph-loop-poc</a:t>
            </a:r>
            <a:endParaRPr b="0" lang="pt-B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67000" y="896040"/>
            <a:ext cx="46630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Fresh context.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State on disk.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Backpressure.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A human on the loop.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567000" y="3328560"/>
            <a:ext cx="4663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The loop is one line. Its quality comes from what you can verify.</a:t>
            </a: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5358240" y="1417320"/>
            <a:ext cx="118440" cy="118440"/>
          </a:xfrm>
          <a:prstGeom prst="ellipse">
            <a:avLst/>
          </a:prstGeom>
          <a:solidFill>
            <a:srgbClr val="3dbe8b"/>
          </a:solidFill>
          <a:ln w="12700">
            <a:solidFill>
              <a:srgbClr val="3dbe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5632560" y="1298520"/>
            <a:ext cx="2944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tibia-charcreate</a:t>
            </a:r>
            <a:endParaRPr b="0" lang="pt-BR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5632560" y="1645920"/>
            <a:ext cx="2944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The real run: specs, oracle, backlog and all ten commits.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7"/>
          <p:cNvSpPr/>
          <p:nvPr/>
        </p:nvSpPr>
        <p:spPr>
          <a:xfrm>
            <a:off x="5632560" y="2267640"/>
            <a:ext cx="2944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8"/>
          <p:cNvSpPr/>
          <p:nvPr/>
        </p:nvSpPr>
        <p:spPr>
          <a:xfrm>
            <a:off x="5632560" y="2615040"/>
            <a:ext cx="2944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9"/>
          <p:cNvSpPr/>
          <p:nvPr/>
        </p:nvSpPr>
        <p:spPr>
          <a:xfrm>
            <a:off x="5374080" y="2645280"/>
            <a:ext cx="118440" cy="118440"/>
          </a:xfrm>
          <a:prstGeom prst="ellipse">
            <a:avLst/>
          </a:prstGeom>
          <a:solidFill>
            <a:srgbClr val="97a3b1"/>
          </a:solidFill>
          <a:ln w="12700">
            <a:solidFill>
              <a:srgbClr val="97a3b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0"/>
          <p:cNvSpPr/>
          <p:nvPr/>
        </p:nvSpPr>
        <p:spPr>
          <a:xfrm>
            <a:off x="5632560" y="2499120"/>
            <a:ext cx="2944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e9edf2"/>
                </a:solidFill>
                <a:effectLst/>
                <a:uFillTx/>
                <a:latin typeface="Arial"/>
                <a:ea typeface="Arial"/>
              </a:rPr>
              <a:t>ghuntley.com/ralph</a:t>
            </a:r>
            <a:endParaRPr b="0" lang="pt-BR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1"/>
          <p:cNvSpPr/>
          <p:nvPr/>
        </p:nvSpPr>
        <p:spPr>
          <a:xfrm>
            <a:off x="5600880" y="2827800"/>
            <a:ext cx="29440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97a3b1"/>
                </a:solidFill>
                <a:effectLst/>
                <a:uFillTx/>
                <a:latin typeface="Calibri"/>
                <a:ea typeface="Calibri"/>
              </a:rPr>
              <a:t>Geoffrey Huntley's original concept.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2026-09-24T01:31:29Z</dcterms:created>
  <dc:creator>Ralph Loop talk</dc:creator>
  <dc:description/>
  <dc:language>pt-BR</dc:language>
  <cp:lastModifiedBy/>
  <dcterms:modified xsi:type="dcterms:W3CDTF">2026-09-23T23:01:27Z</dcterms:modified>
  <cp:revision>13</cp:revision>
  <dc:subject>PptxGenJS Presentation</dc:subject>
  <dc:title>The Ralph Loop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