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Backend cases (of 56)</c:v>
                </c:pt>
              </c:strCache>
            </c:strRef>
          </c:tx>
          <c:spPr>
            <a:solidFill>
              <a:srgbClr val="13704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Sheet1!$A$2:$A$11</c:f>
              <c:multiLvlStrCache>
                <c:ptCount val="10"/>
                <c:lvl>
                  <c:pt idx="0">
                    <c:v>1</c:v>
                  </c:pt>
                  <c:pt idx="1">
                    <c:v>2</c:v>
                  </c:pt>
                  <c:pt idx="2">
                    <c:v>3</c:v>
                  </c:pt>
                  <c:pt idx="3">
                    <c:v>4</c:v>
                  </c:pt>
                  <c:pt idx="4">
                    <c:v>5</c:v>
                  </c:pt>
                  <c:pt idx="5">
                    <c:v>6</c:v>
                  </c:pt>
                  <c:pt idx="6">
                    <c:v>7</c:v>
                  </c:pt>
                  <c:pt idx="7">
                    <c:v>8</c:v>
                  </c:pt>
                  <c:pt idx="8">
                    <c:v>9</c:v>
                  </c:pt>
                  <c:pt idx="9">
                    <c:v>10</c:v>
                  </c:pt>
                </c:lvl>
              </c:multiLvlStrCache>
            </c:multiLvlStrRef>
          </c:cat>
          <c:val>
            <c:numRef>
              <c:f>Sheet1!$B$2:$B$11</c:f>
              <c:numCache>
                <c:formatCode>General</c:formatCode>
                <c:ptCount val="10"/>
                <c:pt idx="0">
                  <c:v>0</c:v>
                </c:pt>
                <c:pt idx="1">
                  <c:v>0</c:v>
                </c:pt>
                <c:pt idx="2">
                  <c:v>2</c:v>
                </c:pt>
                <c:pt idx="3">
                  <c:v>25</c:v>
                </c:pt>
                <c:pt idx="4">
                  <c:v>42</c:v>
                </c:pt>
                <c:pt idx="5">
                  <c:v>52</c:v>
                </c:pt>
                <c:pt idx="6">
                  <c:v>56</c:v>
                </c:pt>
                <c:pt idx="7">
                  <c:v>56</c:v>
                </c:pt>
                <c:pt idx="8">
                  <c:v>56</c:v>
                </c:pt>
                <c:pt idx="9">
                  <c:v>56</c:v>
                </c:pt>
              </c:numCache>
            </c:numRef>
          </c:val>
        </c:ser>
        <c:ser>
          <c:idx val="1"/>
          <c:order val="1"/>
          <c:tx>
            <c:strRef>
              <c:f>Sheet1!$C$1</c:f>
              <c:strCache>
                <c:ptCount val="1"/>
                <c:pt idx="0">
                  <c:v>Frontend checks (of 12)</c:v>
                </c:pt>
              </c:strCache>
            </c:strRef>
          </c:tx>
          <c:spPr>
            <a:solidFill>
              <a:srgbClr val="9A6410"/>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Sheet1!$A$2:$A$11</c:f>
              <c:multiLvlStrCache>
                <c:ptCount val="10"/>
                <c:lvl>
                  <c:pt idx="0">
                    <c:v>1</c:v>
                  </c:pt>
                  <c:pt idx="1">
                    <c:v>2</c:v>
                  </c:pt>
                  <c:pt idx="2">
                    <c:v>3</c:v>
                  </c:pt>
                  <c:pt idx="3">
                    <c:v>4</c:v>
                  </c:pt>
                  <c:pt idx="4">
                    <c:v>5</c:v>
                  </c:pt>
                  <c:pt idx="5">
                    <c:v>6</c:v>
                  </c:pt>
                  <c:pt idx="6">
                    <c:v>7</c:v>
                  </c:pt>
                  <c:pt idx="7">
                    <c:v>8</c:v>
                  </c:pt>
                  <c:pt idx="8">
                    <c:v>9</c:v>
                  </c:pt>
                  <c:pt idx="9">
                    <c:v>10</c:v>
                  </c:pt>
                </c:lvl>
              </c:multiLvlStrCache>
            </c:multiLvlStrRef>
          </c:cat>
          <c:val>
            <c:numRef>
              <c:f>Sheet1!$C$2:$C$11</c:f>
              <c:numCache>
                <c:formatCode>General</c:formatCode>
                <c:ptCount val="10"/>
                <c:pt idx="0">
                  <c:v>0</c:v>
                </c:pt>
                <c:pt idx="1">
                  <c:v>0</c:v>
                </c:pt>
                <c:pt idx="2">
                  <c:v>0</c:v>
                </c:pt>
                <c:pt idx="3">
                  <c:v>0</c:v>
                </c:pt>
                <c:pt idx="4">
                  <c:v>0</c:v>
                </c:pt>
                <c:pt idx="5">
                  <c:v>0</c:v>
                </c:pt>
                <c:pt idx="6">
                  <c:v>0</c:v>
                </c:pt>
                <c:pt idx="7">
                  <c:v>4</c:v>
                </c:pt>
                <c:pt idx="8">
                  <c:v>9</c:v>
                </c:pt>
                <c:pt idx="9">
                  <c:v>12</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45"/>
        <c:overlap val="100"/>
        <c:axId val="2094734554"/>
        <c:axId val="2094734552"/>
        <c:axId val="2094734556"/>
      </c:barChart>
      <c:catAx>
        <c:axId val="2094734554"/>
        <c:scaling>
          <c:orientation val="minMax"/>
        </c:scaling>
        <c:delete val="0"/>
        <c:axPos val="b"/>
        <c:title>
          <c:tx>
            <c:rich>
              <a:bodyPr/>
              <a:lstStyle/>
              <a:p>
                <a:pPr>
                  <a:defRPr sz="1200" b="0" i="0" u="none" strike="noStrike">
                    <a:solidFill>
                      <a:srgbClr val="4E5A66"/>
                    </a:solidFill>
                    <a:latin typeface="Arial"/>
                  </a:defRPr>
                </a:pPr>
                <a:r>
                  <a:rPr sz="1200" b="0" i="0" u="none" strike="noStrike">
                    <a:solidFill>
                      <a:srgbClr val="4E5A66"/>
                    </a:solidFill>
                    <a:latin typeface="Arial"/>
                  </a:rPr>
                  <a:t>iteration</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41A21"/>
                </a:solidFill>
                <a:latin typeface="Courier New"/>
              </a:defRPr>
            </a:pPr>
            <a:endParaRPr lang="en-US"/>
          </a:p>
        </c:txPr>
        <c:crossAx val="2094734552"/>
        <c:crosses val="autoZero"/>
        <c:auto val="1"/>
        <c:lblAlgn val="ctr"/>
        <c:noMultiLvlLbl val="1"/>
      </c:catAx>
      <c:valAx>
        <c:axId val="2094734552"/>
        <c:scaling>
          <c:orientation val="minMax"/>
          <c:max val="70"/>
          <c:min val="0"/>
        </c:scaling>
        <c:delete val="0"/>
        <c:axPos val="l"/>
        <c:majorGridlines>
          <c:spPr>
            <a:ln w="12700" cap="flat">
              <a:solidFill>
                <a:srgbClr val="D9DEE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E5A66"/>
                </a:solidFill>
                <a:latin typeface="Courier New"/>
              </a:defRPr>
            </a:pPr>
            <a:endParaRPr lang="en-US"/>
          </a:p>
        </c:txPr>
        <c:crossAx val="2094734554"/>
        <c:crosses val="autoZero"/>
        <c:crossBetween val="between"/>
        <c:majorUnit val="10"/>
      </c:valAx>
      <c:spPr>
        <a:noFill/>
        <a:ln>
          <a:noFill/>
        </a:ln>
        <a:effectLst/>
      </c:spPr>
    </c:plotArea>
    <c:legend>
      <c:legendPos val="t"/>
      <c:overlay val="0"/>
      <c:txPr>
        <a:bodyPr/>
        <a:lstStyle/>
        <a:p>
          <a:pPr>
            <a:defRPr sz="1400">
              <a:solidFill>
                <a:srgbClr val="141A21"/>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 The Ralph Loop · 0:00–0:20
"In its simplest form, Ralph is one line of shell: pipe the same prompt into a
coding agent, forever. Every cycle starts with an empty conversation, yet the
work keeps moving. In five minutes: why that works, what keeps it honest, and
where it stops working."
--- Before the talk ---
Open deck.pptx in Presenter View. Nothing runs live: slide 5 is a recording
of a real run, sped up to fit about a minute. Have the video file ready (or
embedded in slide 5) and check it plays on the presenting machine. The slide
itself carries the results, so it still works if the video does not.
PowerPoint's Presenter View carries the timer — start it as you begin.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 Why restart the context · 0:20–0:50
"Why throw the conversation away? In one long session the context fills with
old attempts and tool output, and quality tends to drop as it fills.
Summarising the conversation helps, but a summary loses exactly the details
that mattered. The loop does
the opposite: every iteration gets a clean window, reads only what it needs,
and does one backlog item, small enough to finish while the context is
still clean."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 The repository is the memory · 0:50–1:20
"So the memory has to live somewhere else: in the files. The spec says what
to build, the backlog says what remains, the journal says what happened, and
Git keeps the checkpoints. The prompt repeats; the files change. The next
agent finds the finished items already ticked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Backpressure · 1:20–1:45
"What steers the loop is backpressure: every check that can say no.
Compilers, tests, and above all an oracle: an answer key of tests a person
writes before the loop starts, which the agent is not allowed to edit. The
agent never has to be trusted to say it is done — the checks decide. In the
run you are about to see, that is 68 checks. For example: a Knight created
at level 8 must have exactly 255 hitpoints."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 A real run · 1:45–2:50
"This is a real run, recorded and sped up: character creation for an Open
Tibia server: a web page and its server. I wrote the spec and the 68 checks
first, and proved they could pass. The loop did the rest."
Play the recording. While it runs: "Each block is one iteration: a fresh
agent, one backlog item, then the checks. Watch the score line. At iteration
seven the backend is 56 out of 56 and the state is still RED, because the
frontend checks have not passed. Only the checks decide when it is done."
When it finishes: "Ten iterations, fifty-three minutes, ten commits, one per
backlog item. No stalls, no regressions, and the agent never touched the answer key.
This is one run, with no baseline, so it is not a productivity claim."
If the video fails, stay on the slide: the chart is the same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 Failure modes and guardrails · 2:50–3:35
"Loops fail in predictable ways, so the runner is built around them. An agent
that edits a test to make it pass: the oracle files are hashed, and any
change halts the loop. Breaking something that used to work: the score may
never fall, and a drop becomes the next iteration's only job. Spinning its
wheels: three iterations without a commit, or the iteration cap, stops it."
"Three failure modes this runner does not catch. A ticked box on a placeholder
implementation. Requirements nobody wrote a test for. And a process that reaches
outside the workspace — this run had my machine and my permissions; real
runs belong in a container."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You steer the loop, not the code · 3:35–4:05
"Your job moves to the edges of the loop. Reorder the backlog to change what
it does next. When it fails the same way twice, don't fix the code by hand; add
a line to the prompt so no future iteration makes that mistake — Huntley calls
these signs. When a green result is still wrong, add the check that would
have caught it: our run finished at 68 out of 68 with a production build that
did not compile, because nothing checked the build. And read the checkpoints:
the Git log is your review queue."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When to use it · 4:05–4:25
"It fits work that splits into steps with cheap checks: migrations, codemods,
a spec with executable acceptance tests. It does not decide what to build, or
settle taste, and one-way doors still need a person. One run shows the
loop works here; a productivity claim would still need a baseline."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Hasn't multi-agent replaced this? · 4:25–4:40
"You may be wondering whether multi-agent setups replaced this. They solve a
different problem. Ralph keeps one agent sharp across a long task; an
orchestrator splits work across many agents. They compose: each worker in a
team is still running a loop like this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Closing · 4:40–4:55
"Fresh context, state on disk, backpressure, and a human on the loop. The
loop is one line; the quality comes from what you can verify. The original
idea is Geoffrey Huntley's. The harness and the run are in
tibia-charcreate."
Only five seconds of slack remain. If the demo runs long, cut slide 9 to its
last sentence.
--- Short answers for Q&amp;A ---
- Does this prove it works with an LLM? It worked once, here: one run of
  claude-sonnet-5 went from 0 to 68/68 in ten iterations and 53 minutes. That is
  one sample on a well-specified task, not a benchmark.
- What did it cost? About $9 at API list price, as Claude Code estimates
  it. The run used a Claude subscription, so nothing was billed per token.
- Did the agent do anything surprising? It found two bugs in the harness.
  The prompt asked for unit tests, but the oracle counted every test report
  and flagged the extra ones as tampering; the agent separated them in the
  build config. It also logged, rather than fixed, a broken production build
  that the oracle never checked. It spawned no subagents, though the prompt
  invited it to.
- Why not use one prompt? This run does not measure that comparison.
  The hypothesis is that checkpoints make long tasks easier to inspect and resume.
- Can the agent bypass the oracle? Hashes detect file changes; they do
  not defend against a hostile process running with the same privileges.
- Does a green score guarantee quality? Only the tested behaviour.
  Human review and better tests remain necessary.
- Isn't Ralph obsolete now that we have multi-agent orchestration? No;
  they compose. Orchestrators (agent teams, subagents) split work and run it in
  parallel; the loop is what each worker does with its piece: fresh context,
  state on disk, checks as the exit condition. Anthropic ships a Ralph plugin
  for Claude Code, and orchestrators such as ralph-orchestrator build on it.
- How do I run it again? In tibia-charcreate, `ralph.ps1 -Reset`, then
  `ralph.ps1 -Iterations 20 -Model &lt;id&gt;`. `.ralph/logs/run.csv` keeps every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419"/>
        </a:solidFill>
      </p:bgPr>
    </p:bg>
    <p:spTree>
      <p:nvGrpSpPr>
        <p:cNvPr id="1" name=""/>
        <p:cNvGrpSpPr/>
        <p:nvPr/>
      </p:nvGrpSpPr>
      <p:grpSpPr>
        <a:xfrm>
          <a:off x="0" y="0"/>
          <a:ext cx="0" cy="0"/>
          <a:chOff x="0" y="0"/>
          <a:chExt cx="0" cy="0"/>
        </a:xfrm>
      </p:grpSpPr>
      <p:sp>
        <p:nvSpPr>
          <p:cNvPr id="2" name="Text 0"/>
          <p:cNvSpPr txBox="1"/>
          <p:nvPr/>
        </p:nvSpPr>
        <p:spPr>
          <a:xfrm>
            <a:off x="566928" y="256032"/>
            <a:ext cx="1828800" cy="256032"/>
          </a:xfrm>
          <a:prstGeom prst="rect">
            <a:avLst/>
          </a:prstGeom>
          <a:noFill/>
          <a:ln/>
        </p:spPr>
        <p:txBody>
          <a:bodyPr wrap="square" lIns="0" tIns="0" rIns="0" bIns="0" rtlCol="0" anchor="ctr"/>
          <a:lstStyle/>
          <a:p>
            <a:pPr indent="0" marL="0">
              <a:buNone/>
            </a:pPr>
            <a:r>
              <a:rPr lang="en-US" sz="1100" spc="100" kern="0" dirty="0">
                <a:solidFill>
                  <a:srgbClr val="97A3B1"/>
                </a:solidFill>
                <a:latin typeface="Courier New" pitchFamily="34" charset="0"/>
                <a:ea typeface="Courier New" pitchFamily="34" charset="-122"/>
                <a:cs typeface="Courier New" pitchFamily="34" charset="-120"/>
              </a:rPr>
              <a:t>01 / 10</a:t>
            </a:r>
            <a:endParaRPr lang="en-US" sz="1100" dirty="0"/>
          </a:p>
        </p:txBody>
      </p:sp>
      <p:sp>
        <p:nvSpPr>
          <p:cNvPr id="3" name="Text 1"/>
          <p:cNvSpPr txBox="1"/>
          <p:nvPr/>
        </p:nvSpPr>
        <p:spPr>
          <a:xfrm>
            <a:off x="566928" y="932688"/>
            <a:ext cx="8010144" cy="292608"/>
          </a:xfrm>
          <a:prstGeom prst="rect">
            <a:avLst/>
          </a:prstGeom>
          <a:noFill/>
          <a:ln/>
        </p:spPr>
        <p:txBody>
          <a:bodyPr wrap="square" lIns="0" tIns="0" rIns="0" bIns="0" rtlCol="0" anchor="ctr"/>
          <a:lstStyle/>
          <a:p>
            <a:pPr indent="0" marL="0">
              <a:buNone/>
            </a:pPr>
            <a:r>
              <a:rPr lang="en-US" sz="1200" spc="160" kern="0" dirty="0">
                <a:solidFill>
                  <a:srgbClr val="3DBE8B"/>
                </a:solidFill>
                <a:latin typeface="Courier New" pitchFamily="34" charset="0"/>
                <a:ea typeface="Courier New" pitchFamily="34" charset="-122"/>
                <a:cs typeface="Courier New" pitchFamily="34" charset="-120"/>
              </a:rPr>
              <a:t>LIGHTNING TALK  ·  5 MINUTES  ·  ENGINEERING</a:t>
            </a:r>
            <a:endParaRPr lang="en-US" sz="1200" dirty="0"/>
          </a:p>
        </p:txBody>
      </p:sp>
      <p:sp>
        <p:nvSpPr>
          <p:cNvPr id="4" name="Text 2"/>
          <p:cNvSpPr txBox="1"/>
          <p:nvPr/>
        </p:nvSpPr>
        <p:spPr>
          <a:xfrm>
            <a:off x="566928" y="1298448"/>
            <a:ext cx="8010144" cy="960120"/>
          </a:xfrm>
          <a:prstGeom prst="rect">
            <a:avLst/>
          </a:prstGeom>
          <a:noFill/>
          <a:ln/>
        </p:spPr>
        <p:txBody>
          <a:bodyPr wrap="square" lIns="0" tIns="0" rIns="0" bIns="0" rtlCol="0" anchor="ctr"/>
          <a:lstStyle/>
          <a:p>
            <a:pPr indent="0" marL="0">
              <a:buNone/>
            </a:pPr>
            <a:r>
              <a:rPr lang="en-US" sz="5400" b="1" dirty="0">
                <a:solidFill>
                  <a:srgbClr val="E9EDF2"/>
                </a:solidFill>
                <a:latin typeface="Arial" pitchFamily="34" charset="0"/>
                <a:ea typeface="Arial" pitchFamily="34" charset="-122"/>
                <a:cs typeface="Arial" pitchFamily="34" charset="-120"/>
              </a:rPr>
              <a:t>The Ralph Loop</a:t>
            </a:r>
            <a:endParaRPr lang="en-US" sz="5400" dirty="0"/>
          </a:p>
        </p:txBody>
      </p:sp>
      <p:sp>
        <p:nvSpPr>
          <p:cNvPr id="5" name="Text 3"/>
          <p:cNvSpPr txBox="1"/>
          <p:nvPr/>
        </p:nvSpPr>
        <p:spPr>
          <a:xfrm>
            <a:off x="566928" y="2359152"/>
            <a:ext cx="5852160" cy="822960"/>
          </a:xfrm>
          <a:prstGeom prst="rect">
            <a:avLst/>
          </a:prstGeom>
          <a:noFill/>
          <a:ln/>
        </p:spPr>
        <p:txBody>
          <a:bodyPr wrap="square" lIns="0" tIns="0" rIns="0" bIns="0" rtlCol="0" anchor="ctr"/>
          <a:lstStyle/>
          <a:p>
            <a:pPr indent="0" marL="0">
              <a:lnSpc>
                <a:spcPct val="112000"/>
              </a:lnSpc>
              <a:buNone/>
            </a:pPr>
            <a:r>
              <a:rPr lang="en-US" sz="2000" dirty="0">
                <a:solidFill>
                  <a:srgbClr val="97A3B1"/>
                </a:solidFill>
                <a:latin typeface="Calibri" pitchFamily="34" charset="0"/>
                <a:ea typeface="Calibri" pitchFamily="34" charset="-122"/>
                <a:cs typeface="Calibri" pitchFamily="34" charset="-120"/>
              </a:rPr>
              <a:t>A fresh agent context on every iteration.</a:t>
            </a:r>
            <a:endParaRPr lang="en-US" sz="2000" dirty="0"/>
          </a:p>
          <a:p>
            <a:pPr indent="0" marL="0">
              <a:lnSpc>
                <a:spcPct val="112000"/>
              </a:lnSpc>
              <a:buNone/>
            </a:pPr>
            <a:r>
              <a:rPr lang="en-US" sz="2000" dirty="0">
                <a:solidFill>
                  <a:srgbClr val="97A3B1"/>
                </a:solidFill>
                <a:latin typeface="Calibri" pitchFamily="34" charset="0"/>
                <a:ea typeface="Calibri" pitchFamily="34" charset="-122"/>
                <a:cs typeface="Calibri" pitchFamily="34" charset="-120"/>
              </a:rPr>
              <a:t>The work continues in the repository.</a:t>
            </a:r>
            <a:endParaRPr lang="en-US" sz="2000" dirty="0"/>
          </a:p>
        </p:txBody>
      </p:sp>
      <p:sp>
        <p:nvSpPr>
          <p:cNvPr id="6" name="Shape 4"/>
          <p:cNvSpPr/>
          <p:nvPr/>
        </p:nvSpPr>
        <p:spPr>
          <a:xfrm>
            <a:off x="566928" y="3529584"/>
            <a:ext cx="8010144" cy="603504"/>
          </a:xfrm>
          <a:prstGeom prst="roundRect">
            <a:avLst>
              <a:gd name="adj" fmla="val 9091"/>
            </a:avLst>
          </a:prstGeom>
          <a:solidFill>
            <a:srgbClr val="1A2129"/>
          </a:solidFill>
          <a:ln w="12700">
            <a:solidFill>
              <a:srgbClr val="2A343E"/>
            </a:solidFill>
            <a:prstDash val="solid"/>
          </a:ln>
        </p:spPr>
      </p:sp>
      <p:sp>
        <p:nvSpPr>
          <p:cNvPr id="7" name="Text 5"/>
          <p:cNvSpPr txBox="1"/>
          <p:nvPr/>
        </p:nvSpPr>
        <p:spPr>
          <a:xfrm>
            <a:off x="822960" y="3529584"/>
            <a:ext cx="7644384" cy="603504"/>
          </a:xfrm>
          <a:prstGeom prst="rect">
            <a:avLst/>
          </a:prstGeom>
          <a:noFill/>
          <a:ln/>
        </p:spPr>
        <p:txBody>
          <a:bodyPr wrap="square" lIns="0" tIns="0" rIns="0" bIns="0" rtlCol="0" anchor="ctr"/>
          <a:lstStyle/>
          <a:p>
            <a:pPr indent="0" marL="0">
              <a:buNone/>
            </a:pPr>
            <a:r>
              <a:rPr lang="en-US" sz="1800" dirty="0">
                <a:solidFill>
                  <a:srgbClr val="97A3B1"/>
                </a:solidFill>
                <a:latin typeface="Courier New" pitchFamily="34" charset="0"/>
                <a:ea typeface="Courier New" pitchFamily="34" charset="-122"/>
                <a:cs typeface="Courier New" pitchFamily="34" charset="-120"/>
              </a:rPr>
              <a:t>$ </a:t>
            </a:r>
            <a:pPr indent="0" marL="0">
              <a:buNone/>
            </a:pPr>
            <a:r>
              <a:rPr lang="en-US" sz="1800" dirty="0">
                <a:solidFill>
                  <a:srgbClr val="3DBE8B"/>
                </a:solidFill>
                <a:latin typeface="Courier New" pitchFamily="34" charset="0"/>
                <a:ea typeface="Courier New" pitchFamily="34" charset="-122"/>
                <a:cs typeface="Courier New" pitchFamily="34" charset="-120"/>
              </a:rPr>
              <a:t>while :; do </a:t>
            </a:r>
            <a:pPr indent="0" marL="0">
              <a:buNone/>
            </a:pPr>
            <a:r>
              <a:rPr lang="en-US" sz="1800" dirty="0">
                <a:solidFill>
                  <a:srgbClr val="E9EDF2"/>
                </a:solidFill>
                <a:latin typeface="Courier New" pitchFamily="34" charset="0"/>
                <a:ea typeface="Courier New" pitchFamily="34" charset="-122"/>
                <a:cs typeface="Courier New" pitchFamily="34" charset="-120"/>
              </a:rPr>
              <a:t>cat PROMPT.md | claude -p</a:t>
            </a:r>
            <a:pPr indent="0" marL="0">
              <a:buNone/>
            </a:pPr>
            <a:r>
              <a:rPr lang="en-US" sz="1800" dirty="0">
                <a:solidFill>
                  <a:srgbClr val="3DBE8B"/>
                </a:solidFill>
                <a:latin typeface="Courier New" pitchFamily="34" charset="0"/>
                <a:ea typeface="Courier New" pitchFamily="34" charset="-122"/>
                <a:cs typeface="Courier New" pitchFamily="34" charset="-120"/>
              </a:rPr>
              <a:t> ; done</a:t>
            </a:r>
            <a:endParaRPr lang="en-US" sz="1800" dirty="0"/>
          </a:p>
        </p:txBody>
      </p:sp>
      <p:sp>
        <p:nvSpPr>
          <p:cNvPr id="8" name="Text 6"/>
          <p:cNvSpPr txBox="1"/>
          <p:nvPr/>
        </p:nvSpPr>
        <p:spPr>
          <a:xfrm>
            <a:off x="566928" y="4261104"/>
            <a:ext cx="6492240" cy="274320"/>
          </a:xfrm>
          <a:prstGeom prst="rect">
            <a:avLst/>
          </a:prstGeom>
          <a:noFill/>
          <a:ln/>
        </p:spPr>
        <p:txBody>
          <a:bodyPr wrap="square" lIns="0" tIns="0" rIns="0" bIns="0" rtlCol="0" anchor="ctr"/>
          <a:lstStyle/>
          <a:p>
            <a:pPr indent="0" marL="0">
              <a:buNone/>
            </a:pPr>
            <a:r>
              <a:rPr lang="en-US" sz="1500" i="1" dirty="0">
                <a:solidFill>
                  <a:srgbClr val="97A3B1"/>
                </a:solidFill>
                <a:latin typeface="Calibri" pitchFamily="34" charset="0"/>
                <a:ea typeface="Calibri" pitchFamily="34" charset="-122"/>
                <a:cs typeface="Calibri" pitchFamily="34" charset="-120"/>
              </a:rPr>
              <a:t>The whole idea, in its simplest form.</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8"/>
        </a:solidFill>
      </p:bgPr>
    </p:bg>
    <p:spTree>
      <p:nvGrpSpPr>
        <p:cNvPr id="1" name=""/>
        <p:cNvGrpSpPr/>
        <p:nvPr/>
      </p:nvGrpSpPr>
      <p:grpSpPr>
        <a:xfrm>
          <a:off x="0" y="0"/>
          <a:ext cx="0" cy="0"/>
          <a:chOff x="0" y="0"/>
          <a:chExt cx="0" cy="0"/>
        </a:xfrm>
      </p:grpSpPr>
      <p:sp>
        <p:nvSpPr>
          <p:cNvPr id="2" name="Text 0"/>
          <p:cNvSpPr txBox="1"/>
          <p:nvPr/>
        </p:nvSpPr>
        <p:spPr>
          <a:xfrm>
            <a:off x="566928" y="256032"/>
            <a:ext cx="1828800" cy="256032"/>
          </a:xfrm>
          <a:prstGeom prst="rect">
            <a:avLst/>
          </a:prstGeom>
          <a:noFill/>
          <a:ln/>
        </p:spPr>
        <p:txBody>
          <a:bodyPr wrap="square" lIns="0" tIns="0" rIns="0" bIns="0" rtlCol="0" anchor="ctr"/>
          <a:lstStyle/>
          <a:p>
            <a:pPr indent="0" marL="0">
              <a:buNone/>
            </a:pPr>
            <a:r>
              <a:rPr lang="en-US" sz="1100" spc="100" kern="0" dirty="0">
                <a:solidFill>
                  <a:srgbClr val="4E5A66"/>
                </a:solidFill>
                <a:latin typeface="Courier New" pitchFamily="34" charset="0"/>
                <a:ea typeface="Courier New" pitchFamily="34" charset="-122"/>
                <a:cs typeface="Courier New" pitchFamily="34" charset="-120"/>
              </a:rPr>
              <a:t>02 / 10</a:t>
            </a:r>
            <a:endParaRPr lang="en-US" sz="1100" dirty="0"/>
          </a:p>
        </p:txBody>
      </p:sp>
      <p:sp>
        <p:nvSpPr>
          <p:cNvPr id="3" name="Text 1"/>
          <p:cNvSpPr txBox="1"/>
          <p:nvPr/>
        </p:nvSpPr>
        <p:spPr>
          <a:xfrm>
            <a:off x="566928" y="640080"/>
            <a:ext cx="8010144" cy="676656"/>
          </a:xfrm>
          <a:prstGeom prst="rect">
            <a:avLst/>
          </a:prstGeom>
          <a:noFill/>
          <a:ln/>
        </p:spPr>
        <p:txBody>
          <a:bodyPr wrap="square" lIns="0" tIns="0" rIns="0" bIns="0" rtlCol="0" anchor="ctr"/>
          <a:lstStyle/>
          <a:p>
            <a:pPr indent="0" marL="0">
              <a:buNone/>
            </a:pPr>
            <a:r>
              <a:rPr lang="en-US" sz="3200" b="1" dirty="0">
                <a:solidFill>
                  <a:srgbClr val="141A21"/>
                </a:solidFill>
                <a:latin typeface="Arial" pitchFamily="34" charset="0"/>
                <a:ea typeface="Arial" pitchFamily="34" charset="-122"/>
                <a:cs typeface="Arial" pitchFamily="34" charset="-120"/>
              </a:rPr>
              <a:t>Why restart the context?</a:t>
            </a:r>
            <a:endParaRPr lang="en-US" sz="3200" dirty="0"/>
          </a:p>
        </p:txBody>
      </p:sp>
      <p:sp>
        <p:nvSpPr>
          <p:cNvPr id="4" name="Text 2"/>
          <p:cNvSpPr txBox="1"/>
          <p:nvPr/>
        </p:nvSpPr>
        <p:spPr>
          <a:xfrm>
            <a:off x="566928" y="1444752"/>
            <a:ext cx="3840480" cy="274320"/>
          </a:xfrm>
          <a:prstGeom prst="rect">
            <a:avLst/>
          </a:prstGeom>
          <a:noFill/>
          <a:ln/>
        </p:spPr>
        <p:txBody>
          <a:bodyPr wrap="square" lIns="0" tIns="0" rIns="0" bIns="0" rtlCol="0" anchor="ctr"/>
          <a:lstStyle/>
          <a:p>
            <a:pPr indent="0" marL="0">
              <a:buNone/>
            </a:pPr>
            <a:r>
              <a:rPr lang="en-US" sz="1200" spc="140" kern="0" dirty="0">
                <a:solidFill>
                  <a:srgbClr val="A8352A"/>
                </a:solidFill>
                <a:latin typeface="Courier New" pitchFamily="34" charset="0"/>
                <a:ea typeface="Courier New" pitchFamily="34" charset="-122"/>
                <a:cs typeface="Courier New" pitchFamily="34" charset="-120"/>
              </a:rPr>
              <a:t>ONE LONG SESSION</a:t>
            </a:r>
            <a:endParaRPr lang="en-US" sz="1200" dirty="0"/>
          </a:p>
        </p:txBody>
      </p:sp>
      <p:sp>
        <p:nvSpPr>
          <p:cNvPr id="5" name="Shape 3"/>
          <p:cNvSpPr/>
          <p:nvPr/>
        </p:nvSpPr>
        <p:spPr>
          <a:xfrm>
            <a:off x="566928" y="1965960"/>
            <a:ext cx="118872" cy="118872"/>
          </a:xfrm>
          <a:prstGeom prst="ellipse">
            <a:avLst/>
          </a:prstGeom>
          <a:solidFill>
            <a:srgbClr val="A8352A"/>
          </a:solidFill>
          <a:ln w="12700">
            <a:solidFill>
              <a:srgbClr val="A8352A"/>
            </a:solidFill>
            <a:prstDash val="solid"/>
          </a:ln>
        </p:spPr>
      </p:sp>
      <p:sp>
        <p:nvSpPr>
          <p:cNvPr id="6" name="Text 4"/>
          <p:cNvSpPr txBox="1"/>
          <p:nvPr/>
        </p:nvSpPr>
        <p:spPr>
          <a:xfrm>
            <a:off x="841248" y="1847088"/>
            <a:ext cx="3566160" cy="329184"/>
          </a:xfrm>
          <a:prstGeom prst="rect">
            <a:avLst/>
          </a:prstGeom>
          <a:noFill/>
          <a:ln/>
        </p:spPr>
        <p:txBody>
          <a:bodyPr wrap="square" lIns="0" tIns="0" rIns="0" bIns="0" rtlCol="0" anchor="ctr"/>
          <a:lstStyle/>
          <a:p>
            <a:pPr indent="0" marL="0">
              <a:buNone/>
            </a:pPr>
            <a:r>
              <a:rPr lang="en-US" sz="1900" b="1" dirty="0">
                <a:solidFill>
                  <a:srgbClr val="141A21"/>
                </a:solidFill>
                <a:latin typeface="Arial" pitchFamily="34" charset="0"/>
                <a:ea typeface="Arial" pitchFamily="34" charset="-122"/>
                <a:cs typeface="Arial" pitchFamily="34" charset="-120"/>
              </a:rPr>
              <a:t>Context fills up</a:t>
            </a:r>
            <a:endParaRPr lang="en-US" sz="1900" dirty="0"/>
          </a:p>
        </p:txBody>
      </p:sp>
      <p:sp>
        <p:nvSpPr>
          <p:cNvPr id="7" name="Text 5"/>
          <p:cNvSpPr txBox="1"/>
          <p:nvPr/>
        </p:nvSpPr>
        <p:spPr>
          <a:xfrm>
            <a:off x="841248" y="2194560"/>
            <a:ext cx="3566160" cy="310896"/>
          </a:xfrm>
          <a:prstGeom prst="rect">
            <a:avLst/>
          </a:prstGeom>
          <a:noFill/>
          <a:ln/>
        </p:spPr>
        <p:txBody>
          <a:bodyPr wrap="square" lIns="0" tIns="0" rIns="0" bIns="0" rtlCol="0" anchor="t"/>
          <a:lstStyle/>
          <a:p>
            <a:pPr indent="0" marL="0">
              <a:lnSpc>
                <a:spcPct val="105000"/>
              </a:lnSpc>
              <a:buNone/>
            </a:pPr>
            <a:r>
              <a:rPr lang="en-US" sz="1600" dirty="0">
                <a:solidFill>
                  <a:srgbClr val="4E5A66"/>
                </a:solidFill>
                <a:latin typeface="Calibri" pitchFamily="34" charset="0"/>
                <a:ea typeface="Calibri" pitchFamily="34" charset="-122"/>
                <a:cs typeface="Calibri" pitchFamily="34" charset="-120"/>
              </a:rPr>
              <a:t>Old attempts and tool output pile up.</a:t>
            </a:r>
            <a:endParaRPr lang="en-US" sz="1600" dirty="0"/>
          </a:p>
        </p:txBody>
      </p:sp>
      <p:sp>
        <p:nvSpPr>
          <p:cNvPr id="8" name="Shape 6"/>
          <p:cNvSpPr/>
          <p:nvPr/>
        </p:nvSpPr>
        <p:spPr>
          <a:xfrm>
            <a:off x="566928" y="2862072"/>
            <a:ext cx="118872" cy="118872"/>
          </a:xfrm>
          <a:prstGeom prst="ellipse">
            <a:avLst/>
          </a:prstGeom>
          <a:solidFill>
            <a:srgbClr val="A8352A"/>
          </a:solidFill>
          <a:ln w="12700">
            <a:solidFill>
              <a:srgbClr val="A8352A"/>
            </a:solidFill>
            <a:prstDash val="solid"/>
          </a:ln>
        </p:spPr>
      </p:sp>
      <p:sp>
        <p:nvSpPr>
          <p:cNvPr id="9" name="Text 7"/>
          <p:cNvSpPr txBox="1"/>
          <p:nvPr/>
        </p:nvSpPr>
        <p:spPr>
          <a:xfrm>
            <a:off x="841248" y="2743200"/>
            <a:ext cx="3566160" cy="329184"/>
          </a:xfrm>
          <a:prstGeom prst="rect">
            <a:avLst/>
          </a:prstGeom>
          <a:noFill/>
          <a:ln/>
        </p:spPr>
        <p:txBody>
          <a:bodyPr wrap="square" lIns="0" tIns="0" rIns="0" bIns="0" rtlCol="0" anchor="ctr"/>
          <a:lstStyle/>
          <a:p>
            <a:pPr indent="0" marL="0">
              <a:buNone/>
            </a:pPr>
            <a:r>
              <a:rPr lang="en-US" sz="1900" b="1" dirty="0">
                <a:solidFill>
                  <a:srgbClr val="141A21"/>
                </a:solidFill>
                <a:latin typeface="Arial" pitchFamily="34" charset="0"/>
                <a:ea typeface="Arial" pitchFamily="34" charset="-122"/>
                <a:cs typeface="Arial" pitchFamily="34" charset="-120"/>
              </a:rPr>
              <a:t>Quality drifts</a:t>
            </a:r>
            <a:endParaRPr lang="en-US" sz="1900" dirty="0"/>
          </a:p>
        </p:txBody>
      </p:sp>
      <p:sp>
        <p:nvSpPr>
          <p:cNvPr id="10" name="Text 8"/>
          <p:cNvSpPr txBox="1"/>
          <p:nvPr/>
        </p:nvSpPr>
        <p:spPr>
          <a:xfrm>
            <a:off x="841248" y="3090672"/>
            <a:ext cx="3566160" cy="310896"/>
          </a:xfrm>
          <a:prstGeom prst="rect">
            <a:avLst/>
          </a:prstGeom>
          <a:noFill/>
          <a:ln/>
        </p:spPr>
        <p:txBody>
          <a:bodyPr wrap="square" lIns="0" tIns="0" rIns="0" bIns="0" rtlCol="0" anchor="t"/>
          <a:lstStyle/>
          <a:p>
            <a:pPr indent="0" marL="0">
              <a:lnSpc>
                <a:spcPct val="105000"/>
              </a:lnSpc>
              <a:buNone/>
            </a:pPr>
            <a:r>
              <a:rPr lang="en-US" sz="1600" dirty="0">
                <a:solidFill>
                  <a:srgbClr val="4E5A66"/>
                </a:solidFill>
                <a:latin typeface="Calibri" pitchFamily="34" charset="0"/>
                <a:ea typeface="Calibri" pitchFamily="34" charset="-122"/>
                <a:cs typeface="Calibri" pitchFamily="34" charset="-120"/>
              </a:rPr>
              <a:t>It tends to drop as the window fills.</a:t>
            </a:r>
            <a:endParaRPr lang="en-US" sz="1600" dirty="0"/>
          </a:p>
        </p:txBody>
      </p:sp>
      <p:sp>
        <p:nvSpPr>
          <p:cNvPr id="11" name="Shape 9"/>
          <p:cNvSpPr/>
          <p:nvPr/>
        </p:nvSpPr>
        <p:spPr>
          <a:xfrm>
            <a:off x="566928" y="3758184"/>
            <a:ext cx="118872" cy="118872"/>
          </a:xfrm>
          <a:prstGeom prst="ellipse">
            <a:avLst/>
          </a:prstGeom>
          <a:solidFill>
            <a:srgbClr val="A8352A"/>
          </a:solidFill>
          <a:ln w="12700">
            <a:solidFill>
              <a:srgbClr val="A8352A"/>
            </a:solidFill>
            <a:prstDash val="solid"/>
          </a:ln>
        </p:spPr>
      </p:sp>
      <p:sp>
        <p:nvSpPr>
          <p:cNvPr id="12" name="Text 10"/>
          <p:cNvSpPr txBox="1"/>
          <p:nvPr/>
        </p:nvSpPr>
        <p:spPr>
          <a:xfrm>
            <a:off x="841248" y="3639312"/>
            <a:ext cx="3566160" cy="329184"/>
          </a:xfrm>
          <a:prstGeom prst="rect">
            <a:avLst/>
          </a:prstGeom>
          <a:noFill/>
          <a:ln/>
        </p:spPr>
        <p:txBody>
          <a:bodyPr wrap="square" lIns="0" tIns="0" rIns="0" bIns="0" rtlCol="0" anchor="ctr"/>
          <a:lstStyle/>
          <a:p>
            <a:pPr indent="0" marL="0">
              <a:buNone/>
            </a:pPr>
            <a:r>
              <a:rPr lang="en-US" sz="1900" b="1" dirty="0">
                <a:solidFill>
                  <a:srgbClr val="141A21"/>
                </a:solidFill>
                <a:latin typeface="Arial" pitchFamily="34" charset="0"/>
                <a:ea typeface="Arial" pitchFamily="34" charset="-122"/>
                <a:cs typeface="Arial" pitchFamily="34" charset="-120"/>
              </a:rPr>
              <a:t>Compaction is lossy</a:t>
            </a:r>
            <a:endParaRPr lang="en-US" sz="1900" dirty="0"/>
          </a:p>
        </p:txBody>
      </p:sp>
      <p:sp>
        <p:nvSpPr>
          <p:cNvPr id="13" name="Text 11"/>
          <p:cNvSpPr txBox="1"/>
          <p:nvPr/>
        </p:nvSpPr>
        <p:spPr>
          <a:xfrm>
            <a:off x="841248" y="3986784"/>
            <a:ext cx="3566160" cy="310896"/>
          </a:xfrm>
          <a:prstGeom prst="rect">
            <a:avLst/>
          </a:prstGeom>
          <a:noFill/>
          <a:ln/>
        </p:spPr>
        <p:txBody>
          <a:bodyPr wrap="square" lIns="0" tIns="0" rIns="0" bIns="0" rtlCol="0" anchor="t"/>
          <a:lstStyle/>
          <a:p>
            <a:pPr indent="0" marL="0">
              <a:lnSpc>
                <a:spcPct val="105000"/>
              </a:lnSpc>
              <a:buNone/>
            </a:pPr>
            <a:r>
              <a:rPr lang="en-US" sz="1600" dirty="0">
                <a:solidFill>
                  <a:srgbClr val="4E5A66"/>
                </a:solidFill>
                <a:latin typeface="Calibri" pitchFamily="34" charset="0"/>
                <a:ea typeface="Calibri" pitchFamily="34" charset="-122"/>
                <a:cs typeface="Calibri" pitchFamily="34" charset="-120"/>
              </a:rPr>
              <a:t>Summaries drop the details that matter.</a:t>
            </a:r>
            <a:endParaRPr lang="en-US" sz="1600" dirty="0"/>
          </a:p>
        </p:txBody>
      </p:sp>
      <p:sp>
        <p:nvSpPr>
          <p:cNvPr id="14" name="Text 12"/>
          <p:cNvSpPr txBox="1"/>
          <p:nvPr/>
        </p:nvSpPr>
        <p:spPr>
          <a:xfrm>
            <a:off x="4736592" y="1444752"/>
            <a:ext cx="3840480" cy="274320"/>
          </a:xfrm>
          <a:prstGeom prst="rect">
            <a:avLst/>
          </a:prstGeom>
          <a:noFill/>
          <a:ln/>
        </p:spPr>
        <p:txBody>
          <a:bodyPr wrap="square" lIns="0" tIns="0" rIns="0" bIns="0" rtlCol="0" anchor="ctr"/>
          <a:lstStyle/>
          <a:p>
            <a:pPr indent="0" marL="0">
              <a:buNone/>
            </a:pPr>
            <a:r>
              <a:rPr lang="en-US" sz="1200" spc="140" kern="0" dirty="0">
                <a:solidFill>
                  <a:srgbClr val="13704F"/>
                </a:solidFill>
                <a:latin typeface="Courier New" pitchFamily="34" charset="0"/>
                <a:ea typeface="Courier New" pitchFamily="34" charset="-122"/>
                <a:cs typeface="Courier New" pitchFamily="34" charset="-120"/>
              </a:rPr>
              <a:t>A LOOP OF FRESH CONTEXTS</a:t>
            </a:r>
            <a:endParaRPr lang="en-US" sz="1200" dirty="0"/>
          </a:p>
        </p:txBody>
      </p:sp>
      <p:sp>
        <p:nvSpPr>
          <p:cNvPr id="15" name="Shape 13"/>
          <p:cNvSpPr/>
          <p:nvPr/>
        </p:nvSpPr>
        <p:spPr>
          <a:xfrm>
            <a:off x="4736592" y="1965960"/>
            <a:ext cx="118872" cy="118872"/>
          </a:xfrm>
          <a:prstGeom prst="ellipse">
            <a:avLst/>
          </a:prstGeom>
          <a:solidFill>
            <a:srgbClr val="13704F"/>
          </a:solidFill>
          <a:ln w="12700">
            <a:solidFill>
              <a:srgbClr val="13704F"/>
            </a:solidFill>
            <a:prstDash val="solid"/>
          </a:ln>
        </p:spPr>
      </p:sp>
      <p:sp>
        <p:nvSpPr>
          <p:cNvPr id="16" name="Text 14"/>
          <p:cNvSpPr txBox="1"/>
          <p:nvPr/>
        </p:nvSpPr>
        <p:spPr>
          <a:xfrm>
            <a:off x="5010912" y="1847088"/>
            <a:ext cx="3566160" cy="329184"/>
          </a:xfrm>
          <a:prstGeom prst="rect">
            <a:avLst/>
          </a:prstGeom>
          <a:noFill/>
          <a:ln/>
        </p:spPr>
        <p:txBody>
          <a:bodyPr wrap="square" lIns="0" tIns="0" rIns="0" bIns="0" rtlCol="0" anchor="ctr"/>
          <a:lstStyle/>
          <a:p>
            <a:pPr indent="0" marL="0">
              <a:buNone/>
            </a:pPr>
            <a:r>
              <a:rPr lang="en-US" sz="1900" b="1" dirty="0">
                <a:solidFill>
                  <a:srgbClr val="141A21"/>
                </a:solidFill>
                <a:latin typeface="Arial" pitchFamily="34" charset="0"/>
                <a:ea typeface="Arial" pitchFamily="34" charset="-122"/>
                <a:cs typeface="Arial" pitchFamily="34" charset="-120"/>
              </a:rPr>
              <a:t>A clean window</a:t>
            </a:r>
            <a:endParaRPr lang="en-US" sz="1900" dirty="0"/>
          </a:p>
        </p:txBody>
      </p:sp>
      <p:sp>
        <p:nvSpPr>
          <p:cNvPr id="17" name="Text 15"/>
          <p:cNvSpPr txBox="1"/>
          <p:nvPr/>
        </p:nvSpPr>
        <p:spPr>
          <a:xfrm>
            <a:off x="5010912" y="2194560"/>
            <a:ext cx="3566160" cy="310896"/>
          </a:xfrm>
          <a:prstGeom prst="rect">
            <a:avLst/>
          </a:prstGeom>
          <a:noFill/>
          <a:ln/>
        </p:spPr>
        <p:txBody>
          <a:bodyPr wrap="square" lIns="0" tIns="0" rIns="0" bIns="0" rtlCol="0" anchor="t"/>
          <a:lstStyle/>
          <a:p>
            <a:pPr indent="0" marL="0">
              <a:lnSpc>
                <a:spcPct val="105000"/>
              </a:lnSpc>
              <a:buNone/>
            </a:pPr>
            <a:r>
              <a:rPr lang="en-US" sz="1600" dirty="0">
                <a:solidFill>
                  <a:srgbClr val="4E5A66"/>
                </a:solidFill>
                <a:latin typeface="Calibri" pitchFamily="34" charset="0"/>
                <a:ea typeface="Calibri" pitchFamily="34" charset="-122"/>
                <a:cs typeface="Calibri" pitchFamily="34" charset="-120"/>
              </a:rPr>
              <a:t>Every iteration starts empty.</a:t>
            </a:r>
            <a:endParaRPr lang="en-US" sz="1600" dirty="0"/>
          </a:p>
        </p:txBody>
      </p:sp>
      <p:sp>
        <p:nvSpPr>
          <p:cNvPr id="18" name="Shape 16"/>
          <p:cNvSpPr/>
          <p:nvPr/>
        </p:nvSpPr>
        <p:spPr>
          <a:xfrm>
            <a:off x="4736592" y="2862072"/>
            <a:ext cx="118872" cy="118872"/>
          </a:xfrm>
          <a:prstGeom prst="ellipse">
            <a:avLst/>
          </a:prstGeom>
          <a:solidFill>
            <a:srgbClr val="13704F"/>
          </a:solidFill>
          <a:ln w="12700">
            <a:solidFill>
              <a:srgbClr val="13704F"/>
            </a:solidFill>
            <a:prstDash val="solid"/>
          </a:ln>
        </p:spPr>
      </p:sp>
      <p:sp>
        <p:nvSpPr>
          <p:cNvPr id="19" name="Text 17"/>
          <p:cNvSpPr txBox="1"/>
          <p:nvPr/>
        </p:nvSpPr>
        <p:spPr>
          <a:xfrm>
            <a:off x="5010912" y="2743200"/>
            <a:ext cx="3566160" cy="329184"/>
          </a:xfrm>
          <a:prstGeom prst="rect">
            <a:avLst/>
          </a:prstGeom>
          <a:noFill/>
          <a:ln/>
        </p:spPr>
        <p:txBody>
          <a:bodyPr wrap="square" lIns="0" tIns="0" rIns="0" bIns="0" rtlCol="0" anchor="ctr"/>
          <a:lstStyle/>
          <a:p>
            <a:pPr indent="0" marL="0">
              <a:buNone/>
            </a:pPr>
            <a:r>
              <a:rPr lang="en-US" sz="1900" b="1" dirty="0">
                <a:solidFill>
                  <a:srgbClr val="141A21"/>
                </a:solidFill>
                <a:latin typeface="Arial" pitchFamily="34" charset="0"/>
                <a:ea typeface="Arial" pitchFamily="34" charset="-122"/>
                <a:cs typeface="Arial" pitchFamily="34" charset="-120"/>
              </a:rPr>
              <a:t>Reads only what it needs</a:t>
            </a:r>
            <a:endParaRPr lang="en-US" sz="1900" dirty="0"/>
          </a:p>
        </p:txBody>
      </p:sp>
      <p:sp>
        <p:nvSpPr>
          <p:cNvPr id="20" name="Text 18"/>
          <p:cNvSpPr txBox="1"/>
          <p:nvPr/>
        </p:nvSpPr>
        <p:spPr>
          <a:xfrm>
            <a:off x="5010912" y="3090672"/>
            <a:ext cx="3566160" cy="310896"/>
          </a:xfrm>
          <a:prstGeom prst="rect">
            <a:avLst/>
          </a:prstGeom>
          <a:noFill/>
          <a:ln/>
        </p:spPr>
        <p:txBody>
          <a:bodyPr wrap="square" lIns="0" tIns="0" rIns="0" bIns="0" rtlCol="0" anchor="t"/>
          <a:lstStyle/>
          <a:p>
            <a:pPr indent="0" marL="0">
              <a:lnSpc>
                <a:spcPct val="105000"/>
              </a:lnSpc>
              <a:buNone/>
            </a:pPr>
            <a:r>
              <a:rPr lang="en-US" sz="1600" dirty="0">
                <a:solidFill>
                  <a:srgbClr val="4E5A66"/>
                </a:solidFill>
                <a:latin typeface="Calibri" pitchFamily="34" charset="0"/>
                <a:ea typeface="Calibri" pitchFamily="34" charset="-122"/>
                <a:cs typeface="Calibri" pitchFamily="34" charset="-120"/>
              </a:rPr>
              <a:t>Spec, backlog and journal, from disk.</a:t>
            </a:r>
            <a:endParaRPr lang="en-US" sz="1600" dirty="0"/>
          </a:p>
        </p:txBody>
      </p:sp>
      <p:sp>
        <p:nvSpPr>
          <p:cNvPr id="21" name="Shape 19"/>
          <p:cNvSpPr/>
          <p:nvPr/>
        </p:nvSpPr>
        <p:spPr>
          <a:xfrm>
            <a:off x="4736592" y="3758184"/>
            <a:ext cx="118872" cy="118872"/>
          </a:xfrm>
          <a:prstGeom prst="ellipse">
            <a:avLst/>
          </a:prstGeom>
          <a:solidFill>
            <a:srgbClr val="13704F"/>
          </a:solidFill>
          <a:ln w="12700">
            <a:solidFill>
              <a:srgbClr val="13704F"/>
            </a:solidFill>
            <a:prstDash val="solid"/>
          </a:ln>
        </p:spPr>
      </p:sp>
      <p:sp>
        <p:nvSpPr>
          <p:cNvPr id="22" name="Text 20"/>
          <p:cNvSpPr txBox="1"/>
          <p:nvPr/>
        </p:nvSpPr>
        <p:spPr>
          <a:xfrm>
            <a:off x="5010912" y="3639312"/>
            <a:ext cx="3566160" cy="329184"/>
          </a:xfrm>
          <a:prstGeom prst="rect">
            <a:avLst/>
          </a:prstGeom>
          <a:noFill/>
          <a:ln/>
        </p:spPr>
        <p:txBody>
          <a:bodyPr wrap="square" lIns="0" tIns="0" rIns="0" bIns="0" rtlCol="0" anchor="ctr"/>
          <a:lstStyle/>
          <a:p>
            <a:pPr indent="0" marL="0">
              <a:buNone/>
            </a:pPr>
            <a:r>
              <a:rPr lang="en-US" sz="1900" b="1" dirty="0">
                <a:solidFill>
                  <a:srgbClr val="141A21"/>
                </a:solidFill>
                <a:latin typeface="Arial" pitchFamily="34" charset="0"/>
                <a:ea typeface="Arial" pitchFamily="34" charset="-122"/>
                <a:cs typeface="Arial" pitchFamily="34" charset="-120"/>
              </a:rPr>
              <a:t>One item per iteration</a:t>
            </a:r>
            <a:endParaRPr lang="en-US" sz="1900" dirty="0"/>
          </a:p>
        </p:txBody>
      </p:sp>
      <p:sp>
        <p:nvSpPr>
          <p:cNvPr id="23" name="Text 21"/>
          <p:cNvSpPr txBox="1"/>
          <p:nvPr/>
        </p:nvSpPr>
        <p:spPr>
          <a:xfrm>
            <a:off x="5010912" y="3986784"/>
            <a:ext cx="3566160" cy="310896"/>
          </a:xfrm>
          <a:prstGeom prst="rect">
            <a:avLst/>
          </a:prstGeom>
          <a:noFill/>
          <a:ln/>
        </p:spPr>
        <p:txBody>
          <a:bodyPr wrap="square" lIns="0" tIns="0" rIns="0" bIns="0" rtlCol="0" anchor="t"/>
          <a:lstStyle/>
          <a:p>
            <a:pPr indent="0" marL="0">
              <a:lnSpc>
                <a:spcPct val="105000"/>
              </a:lnSpc>
              <a:buNone/>
            </a:pPr>
            <a:r>
              <a:rPr lang="en-US" sz="1600" dirty="0">
                <a:solidFill>
                  <a:srgbClr val="4E5A66"/>
                </a:solidFill>
                <a:latin typeface="Calibri" pitchFamily="34" charset="0"/>
                <a:ea typeface="Calibri" pitchFamily="34" charset="-122"/>
                <a:cs typeface="Calibri" pitchFamily="34" charset="-120"/>
              </a:rPr>
              <a:t>Small enough to finish while sharp.</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8"/>
        </a:solidFill>
      </p:bgPr>
    </p:bg>
    <p:spTree>
      <p:nvGrpSpPr>
        <p:cNvPr id="1" name=""/>
        <p:cNvGrpSpPr/>
        <p:nvPr/>
      </p:nvGrpSpPr>
      <p:grpSpPr>
        <a:xfrm>
          <a:off x="0" y="0"/>
          <a:ext cx="0" cy="0"/>
          <a:chOff x="0" y="0"/>
          <a:chExt cx="0" cy="0"/>
        </a:xfrm>
      </p:grpSpPr>
      <p:sp>
        <p:nvSpPr>
          <p:cNvPr id="2" name="Text 0"/>
          <p:cNvSpPr txBox="1"/>
          <p:nvPr/>
        </p:nvSpPr>
        <p:spPr>
          <a:xfrm>
            <a:off x="566928" y="256032"/>
            <a:ext cx="1828800" cy="256032"/>
          </a:xfrm>
          <a:prstGeom prst="rect">
            <a:avLst/>
          </a:prstGeom>
          <a:noFill/>
          <a:ln/>
        </p:spPr>
        <p:txBody>
          <a:bodyPr wrap="square" lIns="0" tIns="0" rIns="0" bIns="0" rtlCol="0" anchor="ctr"/>
          <a:lstStyle/>
          <a:p>
            <a:pPr indent="0" marL="0">
              <a:buNone/>
            </a:pPr>
            <a:r>
              <a:rPr lang="en-US" sz="1100" spc="100" kern="0" dirty="0">
                <a:solidFill>
                  <a:srgbClr val="4E5A66"/>
                </a:solidFill>
                <a:latin typeface="Courier New" pitchFamily="34" charset="0"/>
                <a:ea typeface="Courier New" pitchFamily="34" charset="-122"/>
                <a:cs typeface="Courier New" pitchFamily="34" charset="-120"/>
              </a:rPr>
              <a:t>03 / 10</a:t>
            </a:r>
            <a:endParaRPr lang="en-US" sz="1100" dirty="0"/>
          </a:p>
        </p:txBody>
      </p:sp>
      <p:sp>
        <p:nvSpPr>
          <p:cNvPr id="3" name="Text 1"/>
          <p:cNvSpPr txBox="1"/>
          <p:nvPr/>
        </p:nvSpPr>
        <p:spPr>
          <a:xfrm>
            <a:off x="566928" y="640080"/>
            <a:ext cx="8010144" cy="676656"/>
          </a:xfrm>
          <a:prstGeom prst="rect">
            <a:avLst/>
          </a:prstGeom>
          <a:noFill/>
          <a:ln/>
        </p:spPr>
        <p:txBody>
          <a:bodyPr wrap="square" lIns="0" tIns="0" rIns="0" bIns="0" rtlCol="0" anchor="ctr"/>
          <a:lstStyle/>
          <a:p>
            <a:pPr indent="0" marL="0">
              <a:buNone/>
            </a:pPr>
            <a:r>
              <a:rPr lang="en-US" sz="3200" b="1" dirty="0">
                <a:solidFill>
                  <a:srgbClr val="141A21"/>
                </a:solidFill>
                <a:latin typeface="Arial" pitchFamily="34" charset="0"/>
                <a:ea typeface="Arial" pitchFamily="34" charset="-122"/>
                <a:cs typeface="Arial" pitchFamily="34" charset="-120"/>
              </a:rPr>
              <a:t>The repository is the memory</a:t>
            </a:r>
            <a:endParaRPr lang="en-US" sz="3200" dirty="0"/>
          </a:p>
        </p:txBody>
      </p:sp>
      <p:sp>
        <p:nvSpPr>
          <p:cNvPr id="4" name="Shape 2"/>
          <p:cNvSpPr/>
          <p:nvPr/>
        </p:nvSpPr>
        <p:spPr>
          <a:xfrm>
            <a:off x="566928" y="1627632"/>
            <a:ext cx="4187952" cy="2084832"/>
          </a:xfrm>
          <a:prstGeom prst="roundRect">
            <a:avLst>
              <a:gd name="adj" fmla="val 2193"/>
            </a:avLst>
          </a:prstGeom>
          <a:solidFill>
            <a:srgbClr val="0F1419"/>
          </a:solidFill>
          <a:ln w="12700">
            <a:solidFill>
              <a:srgbClr val="0F1419"/>
            </a:solidFill>
            <a:prstDash val="solid"/>
          </a:ln>
        </p:spPr>
      </p:sp>
      <p:sp>
        <p:nvSpPr>
          <p:cNvPr id="5" name="Text 3"/>
          <p:cNvSpPr txBox="1"/>
          <p:nvPr/>
        </p:nvSpPr>
        <p:spPr>
          <a:xfrm>
            <a:off x="859536" y="1865376"/>
            <a:ext cx="3749040" cy="1645920"/>
          </a:xfrm>
          <a:prstGeom prst="rect">
            <a:avLst/>
          </a:prstGeom>
          <a:noFill/>
          <a:ln/>
        </p:spPr>
        <p:txBody>
          <a:bodyPr wrap="square" lIns="0" tIns="0" rIns="0" bIns="0" rtlCol="0" anchor="ctr"/>
          <a:lstStyle/>
          <a:p>
            <a:pPr indent="0" marL="0">
              <a:lnSpc>
                <a:spcPct val="135000"/>
              </a:lnSpc>
              <a:buNone/>
            </a:pPr>
            <a:r>
              <a:rPr lang="en-US" sz="1500" dirty="0">
                <a:solidFill>
                  <a:srgbClr val="3DBE8B"/>
                </a:solidFill>
                <a:latin typeface="Courier New" pitchFamily="34" charset="0"/>
                <a:ea typeface="Courier New" pitchFamily="34" charset="-122"/>
                <a:cs typeface="Courier New" pitchFamily="34" charset="-120"/>
              </a:rPr>
              <a:t>while budget remains:</a:t>
            </a:r>
            <a:endParaRPr lang="en-US" sz="1500" dirty="0"/>
          </a:p>
          <a:p>
            <a:pPr indent="0" marL="0">
              <a:lnSpc>
                <a:spcPct val="135000"/>
              </a:lnSpc>
              <a:buNone/>
            </a:pPr>
            <a:r>
              <a:rPr lang="en-US" sz="1500" dirty="0">
                <a:solidFill>
                  <a:srgbClr val="E9EDF2"/>
                </a:solidFill>
                <a:latin typeface="Courier New" pitchFamily="34" charset="0"/>
                <a:ea typeface="Courier New" pitchFamily="34" charset="-122"/>
                <a:cs typeface="Courier New" pitchFamily="34" charset="-120"/>
              </a:rPr>
              <a:t>    start agent, fresh context</a:t>
            </a:r>
            <a:endParaRPr lang="en-US" sz="1500" dirty="0"/>
          </a:p>
          <a:p>
            <a:pPr indent="0" marL="0">
              <a:lnSpc>
                <a:spcPct val="135000"/>
              </a:lnSpc>
              <a:buNone/>
            </a:pPr>
            <a:r>
              <a:rPr lang="en-US" sz="1500" dirty="0">
                <a:solidFill>
                  <a:srgbClr val="E9EDF2"/>
                </a:solidFill>
                <a:latin typeface="Courier New" pitchFamily="34" charset="0"/>
                <a:ea typeface="Courier New" pitchFamily="34" charset="-122"/>
                <a:cs typeface="Courier New" pitchFamily="34" charset="-120"/>
              </a:rPr>
              <a:t>    work on one backlog item</a:t>
            </a:r>
            <a:endParaRPr lang="en-US" sz="1500" dirty="0"/>
          </a:p>
          <a:p>
            <a:pPr indent="0" marL="0">
              <a:lnSpc>
                <a:spcPct val="135000"/>
              </a:lnSpc>
              <a:buNone/>
            </a:pPr>
            <a:r>
              <a:rPr lang="en-US" sz="1500" dirty="0">
                <a:solidFill>
                  <a:srgbClr val="E9EDF2"/>
                </a:solidFill>
                <a:latin typeface="Courier New" pitchFamily="34" charset="0"/>
                <a:ea typeface="Courier New" pitchFamily="34" charset="-122"/>
                <a:cs typeface="Courier New" pitchFamily="34" charset="-120"/>
              </a:rPr>
              <a:t>    verify, then checkpoint</a:t>
            </a:r>
            <a:endParaRPr lang="en-US" sz="1500" dirty="0"/>
          </a:p>
        </p:txBody>
      </p:sp>
      <p:sp>
        <p:nvSpPr>
          <p:cNvPr id="6" name="Text 4"/>
          <p:cNvSpPr txBox="1"/>
          <p:nvPr/>
        </p:nvSpPr>
        <p:spPr>
          <a:xfrm>
            <a:off x="566928" y="3840480"/>
            <a:ext cx="4187952" cy="310896"/>
          </a:xfrm>
          <a:prstGeom prst="rect">
            <a:avLst/>
          </a:prstGeom>
          <a:noFill/>
          <a:ln/>
        </p:spPr>
        <p:txBody>
          <a:bodyPr wrap="square" lIns="0" tIns="0" rIns="0" bIns="0" rtlCol="0" anchor="ctr"/>
          <a:lstStyle/>
          <a:p>
            <a:pPr indent="0" marL="0">
              <a:buNone/>
            </a:pPr>
            <a:r>
              <a:rPr lang="en-US" sz="1600" i="1" dirty="0">
                <a:solidFill>
                  <a:srgbClr val="4E5A66"/>
                </a:solidFill>
                <a:latin typeface="Calibri" pitchFamily="34" charset="0"/>
                <a:ea typeface="Calibri" pitchFamily="34" charset="-122"/>
                <a:cs typeface="Calibri" pitchFamily="34" charset="-120"/>
              </a:rPr>
              <a:t>The prompt repeats. The files change.</a:t>
            </a:r>
            <a:endParaRPr lang="en-US" sz="1600" dirty="0"/>
          </a:p>
        </p:txBody>
      </p:sp>
      <p:sp>
        <p:nvSpPr>
          <p:cNvPr id="7" name="Shape 5"/>
          <p:cNvSpPr/>
          <p:nvPr/>
        </p:nvSpPr>
        <p:spPr>
          <a:xfrm>
            <a:off x="5029200" y="1783080"/>
            <a:ext cx="118872" cy="118872"/>
          </a:xfrm>
          <a:prstGeom prst="ellipse">
            <a:avLst/>
          </a:prstGeom>
          <a:solidFill>
            <a:srgbClr val="13704F"/>
          </a:solidFill>
          <a:ln w="12700">
            <a:solidFill>
              <a:srgbClr val="13704F"/>
            </a:solidFill>
            <a:prstDash val="solid"/>
          </a:ln>
        </p:spPr>
      </p:sp>
      <p:sp>
        <p:nvSpPr>
          <p:cNvPr id="8" name="Text 6"/>
          <p:cNvSpPr txBox="1"/>
          <p:nvPr/>
        </p:nvSpPr>
        <p:spPr>
          <a:xfrm>
            <a:off x="5303520" y="1664208"/>
            <a:ext cx="3273552" cy="329184"/>
          </a:xfrm>
          <a:prstGeom prst="rect">
            <a:avLst/>
          </a:prstGeom>
          <a:noFill/>
          <a:ln/>
        </p:spPr>
        <p:txBody>
          <a:bodyPr wrap="square" lIns="0" tIns="0" rIns="0" bIns="0" rtlCol="0" anchor="ctr"/>
          <a:lstStyle/>
          <a:p>
            <a:pPr indent="0" marL="0">
              <a:buNone/>
            </a:pPr>
            <a:r>
              <a:rPr lang="en-US" sz="1900" b="1" dirty="0">
                <a:solidFill>
                  <a:srgbClr val="141A21"/>
                </a:solidFill>
                <a:latin typeface="Arial" pitchFamily="34" charset="0"/>
                <a:ea typeface="Arial" pitchFamily="34" charset="-122"/>
                <a:cs typeface="Arial" pitchFamily="34" charset="-120"/>
              </a:rPr>
              <a:t>specs/</a:t>
            </a:r>
            <a:endParaRPr lang="en-US" sz="1900" dirty="0"/>
          </a:p>
        </p:txBody>
      </p:sp>
      <p:sp>
        <p:nvSpPr>
          <p:cNvPr id="9" name="Text 7"/>
          <p:cNvSpPr txBox="1"/>
          <p:nvPr/>
        </p:nvSpPr>
        <p:spPr>
          <a:xfrm>
            <a:off x="5303520" y="2011680"/>
            <a:ext cx="3273552" cy="310896"/>
          </a:xfrm>
          <a:prstGeom prst="rect">
            <a:avLst/>
          </a:prstGeom>
          <a:noFill/>
          <a:ln/>
        </p:spPr>
        <p:txBody>
          <a:bodyPr wrap="square" lIns="0" tIns="0" rIns="0" bIns="0" rtlCol="0" anchor="t"/>
          <a:lstStyle/>
          <a:p>
            <a:pPr indent="0" marL="0">
              <a:lnSpc>
                <a:spcPct val="105000"/>
              </a:lnSpc>
              <a:buNone/>
            </a:pPr>
            <a:r>
              <a:rPr lang="en-US" sz="1600" dirty="0">
                <a:solidFill>
                  <a:srgbClr val="4E5A66"/>
                </a:solidFill>
                <a:latin typeface="Calibri" pitchFamily="34" charset="0"/>
                <a:ea typeface="Calibri" pitchFamily="34" charset="-122"/>
                <a:cs typeface="Calibri" pitchFamily="34" charset="-120"/>
              </a:rPr>
              <a:t>What the behaviour should be.</a:t>
            </a:r>
            <a:endParaRPr lang="en-US" sz="1600" dirty="0"/>
          </a:p>
        </p:txBody>
      </p:sp>
      <p:sp>
        <p:nvSpPr>
          <p:cNvPr id="10" name="Shape 8"/>
          <p:cNvSpPr/>
          <p:nvPr/>
        </p:nvSpPr>
        <p:spPr>
          <a:xfrm>
            <a:off x="5029200" y="2551176"/>
            <a:ext cx="118872" cy="118872"/>
          </a:xfrm>
          <a:prstGeom prst="ellipse">
            <a:avLst/>
          </a:prstGeom>
          <a:solidFill>
            <a:srgbClr val="13704F"/>
          </a:solidFill>
          <a:ln w="12700">
            <a:solidFill>
              <a:srgbClr val="13704F"/>
            </a:solidFill>
            <a:prstDash val="solid"/>
          </a:ln>
        </p:spPr>
      </p:sp>
      <p:sp>
        <p:nvSpPr>
          <p:cNvPr id="11" name="Text 9"/>
          <p:cNvSpPr txBox="1"/>
          <p:nvPr/>
        </p:nvSpPr>
        <p:spPr>
          <a:xfrm>
            <a:off x="5303520" y="2432304"/>
            <a:ext cx="3273552" cy="329184"/>
          </a:xfrm>
          <a:prstGeom prst="rect">
            <a:avLst/>
          </a:prstGeom>
          <a:noFill/>
          <a:ln/>
        </p:spPr>
        <p:txBody>
          <a:bodyPr wrap="square" lIns="0" tIns="0" rIns="0" bIns="0" rtlCol="0" anchor="ctr"/>
          <a:lstStyle/>
          <a:p>
            <a:pPr indent="0" marL="0">
              <a:buNone/>
            </a:pPr>
            <a:r>
              <a:rPr lang="en-US" sz="1900" b="1" dirty="0">
                <a:solidFill>
                  <a:srgbClr val="141A21"/>
                </a:solidFill>
                <a:latin typeface="Arial" pitchFamily="34" charset="0"/>
                <a:ea typeface="Arial" pitchFamily="34" charset="-122"/>
                <a:cs typeface="Arial" pitchFamily="34" charset="-120"/>
              </a:rPr>
              <a:t>fix_plan.md + journal</a:t>
            </a:r>
            <a:endParaRPr lang="en-US" sz="1900" dirty="0"/>
          </a:p>
        </p:txBody>
      </p:sp>
      <p:sp>
        <p:nvSpPr>
          <p:cNvPr id="12" name="Text 10"/>
          <p:cNvSpPr txBox="1"/>
          <p:nvPr/>
        </p:nvSpPr>
        <p:spPr>
          <a:xfrm>
            <a:off x="5303520" y="2779776"/>
            <a:ext cx="3273552" cy="310896"/>
          </a:xfrm>
          <a:prstGeom prst="rect">
            <a:avLst/>
          </a:prstGeom>
          <a:noFill/>
          <a:ln/>
        </p:spPr>
        <p:txBody>
          <a:bodyPr wrap="square" lIns="0" tIns="0" rIns="0" bIns="0" rtlCol="0" anchor="t"/>
          <a:lstStyle/>
          <a:p>
            <a:pPr indent="0" marL="0">
              <a:lnSpc>
                <a:spcPct val="105000"/>
              </a:lnSpc>
              <a:buNone/>
            </a:pPr>
            <a:r>
              <a:rPr lang="en-US" sz="1600" dirty="0">
                <a:solidFill>
                  <a:srgbClr val="4E5A66"/>
                </a:solidFill>
                <a:latin typeface="Calibri" pitchFamily="34" charset="0"/>
                <a:ea typeface="Calibri" pitchFamily="34" charset="-122"/>
                <a:cs typeface="Calibri" pitchFamily="34" charset="-120"/>
              </a:rPr>
              <a:t>What is left, and what happened.</a:t>
            </a:r>
            <a:endParaRPr lang="en-US" sz="1600" dirty="0"/>
          </a:p>
        </p:txBody>
      </p:sp>
      <p:sp>
        <p:nvSpPr>
          <p:cNvPr id="13" name="Shape 11"/>
          <p:cNvSpPr/>
          <p:nvPr/>
        </p:nvSpPr>
        <p:spPr>
          <a:xfrm>
            <a:off x="5029200" y="3319272"/>
            <a:ext cx="118872" cy="118872"/>
          </a:xfrm>
          <a:prstGeom prst="ellipse">
            <a:avLst/>
          </a:prstGeom>
          <a:solidFill>
            <a:srgbClr val="13704F"/>
          </a:solidFill>
          <a:ln w="12700">
            <a:solidFill>
              <a:srgbClr val="13704F"/>
            </a:solidFill>
            <a:prstDash val="solid"/>
          </a:ln>
        </p:spPr>
      </p:sp>
      <p:sp>
        <p:nvSpPr>
          <p:cNvPr id="14" name="Text 12"/>
          <p:cNvSpPr txBox="1"/>
          <p:nvPr/>
        </p:nvSpPr>
        <p:spPr>
          <a:xfrm>
            <a:off x="5303520" y="3200400"/>
            <a:ext cx="3273552" cy="329184"/>
          </a:xfrm>
          <a:prstGeom prst="rect">
            <a:avLst/>
          </a:prstGeom>
          <a:noFill/>
          <a:ln/>
        </p:spPr>
        <p:txBody>
          <a:bodyPr wrap="square" lIns="0" tIns="0" rIns="0" bIns="0" rtlCol="0" anchor="ctr"/>
          <a:lstStyle/>
          <a:p>
            <a:pPr indent="0" marL="0">
              <a:buNone/>
            </a:pPr>
            <a:r>
              <a:rPr lang="en-US" sz="1900" b="1" dirty="0">
                <a:solidFill>
                  <a:srgbClr val="141A21"/>
                </a:solidFill>
                <a:latin typeface="Arial" pitchFamily="34" charset="0"/>
                <a:ea typeface="Arial" pitchFamily="34" charset="-122"/>
                <a:cs typeface="Arial" pitchFamily="34" charset="-120"/>
              </a:rPr>
              <a:t>git log</a:t>
            </a:r>
            <a:endParaRPr lang="en-US" sz="1900" dirty="0"/>
          </a:p>
        </p:txBody>
      </p:sp>
      <p:sp>
        <p:nvSpPr>
          <p:cNvPr id="15" name="Text 13"/>
          <p:cNvSpPr txBox="1"/>
          <p:nvPr/>
        </p:nvSpPr>
        <p:spPr>
          <a:xfrm>
            <a:off x="5303520" y="3547872"/>
            <a:ext cx="3273552" cy="310896"/>
          </a:xfrm>
          <a:prstGeom prst="rect">
            <a:avLst/>
          </a:prstGeom>
          <a:noFill/>
          <a:ln/>
        </p:spPr>
        <p:txBody>
          <a:bodyPr wrap="square" lIns="0" tIns="0" rIns="0" bIns="0" rtlCol="0" anchor="t"/>
          <a:lstStyle/>
          <a:p>
            <a:pPr indent="0" marL="0">
              <a:lnSpc>
                <a:spcPct val="105000"/>
              </a:lnSpc>
              <a:buNone/>
            </a:pPr>
            <a:r>
              <a:rPr lang="en-US" sz="1600" dirty="0">
                <a:solidFill>
                  <a:srgbClr val="4E5A66"/>
                </a:solidFill>
                <a:latin typeface="Calibri" pitchFamily="34" charset="0"/>
                <a:ea typeface="Calibri" pitchFamily="34" charset="-122"/>
                <a:cs typeface="Calibri" pitchFamily="34" charset="-120"/>
              </a:rPr>
              <a:t>The checkpoint history.</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8"/>
        </a:solidFill>
      </p:bgPr>
    </p:bg>
    <p:spTree>
      <p:nvGrpSpPr>
        <p:cNvPr id="1" name=""/>
        <p:cNvGrpSpPr/>
        <p:nvPr/>
      </p:nvGrpSpPr>
      <p:grpSpPr>
        <a:xfrm>
          <a:off x="0" y="0"/>
          <a:ext cx="0" cy="0"/>
          <a:chOff x="0" y="0"/>
          <a:chExt cx="0" cy="0"/>
        </a:xfrm>
      </p:grpSpPr>
      <p:sp>
        <p:nvSpPr>
          <p:cNvPr id="2" name="Text 0"/>
          <p:cNvSpPr txBox="1"/>
          <p:nvPr/>
        </p:nvSpPr>
        <p:spPr>
          <a:xfrm>
            <a:off x="566928" y="256032"/>
            <a:ext cx="1828800" cy="256032"/>
          </a:xfrm>
          <a:prstGeom prst="rect">
            <a:avLst/>
          </a:prstGeom>
          <a:noFill/>
          <a:ln/>
        </p:spPr>
        <p:txBody>
          <a:bodyPr wrap="square" lIns="0" tIns="0" rIns="0" bIns="0" rtlCol="0" anchor="ctr"/>
          <a:lstStyle/>
          <a:p>
            <a:pPr indent="0" marL="0">
              <a:buNone/>
            </a:pPr>
            <a:r>
              <a:rPr lang="en-US" sz="1100" spc="100" kern="0" dirty="0">
                <a:solidFill>
                  <a:srgbClr val="4E5A66"/>
                </a:solidFill>
                <a:latin typeface="Courier New" pitchFamily="34" charset="0"/>
                <a:ea typeface="Courier New" pitchFamily="34" charset="-122"/>
                <a:cs typeface="Courier New" pitchFamily="34" charset="-120"/>
              </a:rPr>
              <a:t>04 / 10</a:t>
            </a:r>
            <a:endParaRPr lang="en-US" sz="1100" dirty="0"/>
          </a:p>
        </p:txBody>
      </p:sp>
      <p:sp>
        <p:nvSpPr>
          <p:cNvPr id="3" name="Text 1"/>
          <p:cNvSpPr txBox="1"/>
          <p:nvPr/>
        </p:nvSpPr>
        <p:spPr>
          <a:xfrm>
            <a:off x="566928" y="640080"/>
            <a:ext cx="8010144" cy="676656"/>
          </a:xfrm>
          <a:prstGeom prst="rect">
            <a:avLst/>
          </a:prstGeom>
          <a:noFill/>
          <a:ln/>
        </p:spPr>
        <p:txBody>
          <a:bodyPr wrap="square" lIns="0" tIns="0" rIns="0" bIns="0" rtlCol="0" anchor="ctr"/>
          <a:lstStyle/>
          <a:p>
            <a:pPr indent="0" marL="0">
              <a:buNone/>
            </a:pPr>
            <a:r>
              <a:rPr lang="en-US" sz="3200" b="1" dirty="0">
                <a:solidFill>
                  <a:srgbClr val="141A21"/>
                </a:solidFill>
                <a:latin typeface="Arial" pitchFamily="34" charset="0"/>
                <a:ea typeface="Arial" pitchFamily="34" charset="-122"/>
                <a:cs typeface="Arial" pitchFamily="34" charset="-120"/>
              </a:rPr>
              <a:t>Backpressure: checks that can say no</a:t>
            </a:r>
            <a:endParaRPr lang="en-US" sz="3200" dirty="0"/>
          </a:p>
        </p:txBody>
      </p:sp>
      <p:sp>
        <p:nvSpPr>
          <p:cNvPr id="4" name="Shape 2"/>
          <p:cNvSpPr/>
          <p:nvPr/>
        </p:nvSpPr>
        <p:spPr>
          <a:xfrm>
            <a:off x="566928" y="1572768"/>
            <a:ext cx="1389888" cy="786384"/>
          </a:xfrm>
          <a:prstGeom prst="roundRect">
            <a:avLst>
              <a:gd name="adj" fmla="val 9302"/>
            </a:avLst>
          </a:prstGeom>
          <a:solidFill>
            <a:srgbClr val="0F1419"/>
          </a:solidFill>
          <a:ln w="12700">
            <a:solidFill>
              <a:srgbClr val="0F1419"/>
            </a:solidFill>
            <a:prstDash val="solid"/>
          </a:ln>
        </p:spPr>
      </p:sp>
      <p:sp>
        <p:nvSpPr>
          <p:cNvPr id="5" name="Text 3"/>
          <p:cNvSpPr txBox="1"/>
          <p:nvPr/>
        </p:nvSpPr>
        <p:spPr>
          <a:xfrm>
            <a:off x="640080" y="1572768"/>
            <a:ext cx="1243584" cy="786384"/>
          </a:xfrm>
          <a:prstGeom prst="rect">
            <a:avLst/>
          </a:prstGeom>
          <a:noFill/>
          <a:ln/>
        </p:spPr>
        <p:txBody>
          <a:bodyPr wrap="square" lIns="0" tIns="0" rIns="0" bIns="0" rtlCol="0" anchor="ctr"/>
          <a:lstStyle/>
          <a:p>
            <a:pPr algn="ctr" indent="0" marL="0">
              <a:buNone/>
            </a:pPr>
            <a:r>
              <a:rPr lang="en-US" sz="1400" b="1" dirty="0">
                <a:solidFill>
                  <a:srgbClr val="E9EDF2"/>
                </a:solidFill>
                <a:latin typeface="Arial" pitchFamily="34" charset="0"/>
                <a:ea typeface="Arial" pitchFamily="34" charset="-122"/>
                <a:cs typeface="Arial" pitchFamily="34" charset="-120"/>
              </a:rPr>
              <a:t>Agent's change</a:t>
            </a:r>
            <a:endParaRPr lang="en-US" sz="1400" dirty="0"/>
          </a:p>
        </p:txBody>
      </p:sp>
      <p:sp>
        <p:nvSpPr>
          <p:cNvPr id="6" name="Shape 4"/>
          <p:cNvSpPr/>
          <p:nvPr/>
        </p:nvSpPr>
        <p:spPr>
          <a:xfrm>
            <a:off x="2002536" y="1965960"/>
            <a:ext cx="173736" cy="0"/>
          </a:xfrm>
          <a:prstGeom prst="line">
            <a:avLst/>
          </a:prstGeom>
          <a:noFill/>
          <a:ln w="19050">
            <a:solidFill>
              <a:srgbClr val="4E5A66"/>
            </a:solidFill>
            <a:prstDash val="solid"/>
            <a:tailEnd type="triangle"/>
          </a:ln>
        </p:spPr>
      </p:sp>
      <p:sp>
        <p:nvSpPr>
          <p:cNvPr id="7" name="Shape 5"/>
          <p:cNvSpPr/>
          <p:nvPr/>
        </p:nvSpPr>
        <p:spPr>
          <a:xfrm>
            <a:off x="2221992" y="1572768"/>
            <a:ext cx="1389888" cy="786384"/>
          </a:xfrm>
          <a:prstGeom prst="roundRect">
            <a:avLst>
              <a:gd name="adj" fmla="val 9302"/>
            </a:avLst>
          </a:prstGeom>
          <a:solidFill>
            <a:srgbClr val="FFFFFF"/>
          </a:solidFill>
          <a:ln w="12700">
            <a:solidFill>
              <a:srgbClr val="D9DEE4"/>
            </a:solidFill>
            <a:prstDash val="solid"/>
          </a:ln>
        </p:spPr>
      </p:sp>
      <p:sp>
        <p:nvSpPr>
          <p:cNvPr id="8" name="Text 6"/>
          <p:cNvSpPr txBox="1"/>
          <p:nvPr/>
        </p:nvSpPr>
        <p:spPr>
          <a:xfrm>
            <a:off x="2295144" y="1572768"/>
            <a:ext cx="1243584" cy="786384"/>
          </a:xfrm>
          <a:prstGeom prst="rect">
            <a:avLst/>
          </a:prstGeom>
          <a:noFill/>
          <a:ln/>
        </p:spPr>
        <p:txBody>
          <a:bodyPr wrap="square" lIns="0" tIns="0" rIns="0" bIns="0" rtlCol="0" anchor="ctr"/>
          <a:lstStyle/>
          <a:p>
            <a:pPr algn="ctr" indent="0" marL="0">
              <a:buNone/>
            </a:pPr>
            <a:r>
              <a:rPr lang="en-US" sz="1400" b="1" dirty="0">
                <a:solidFill>
                  <a:srgbClr val="141A21"/>
                </a:solidFill>
                <a:latin typeface="Arial" pitchFamily="34" charset="0"/>
                <a:ea typeface="Arial" pitchFamily="34" charset="-122"/>
                <a:cs typeface="Arial" pitchFamily="34" charset="-120"/>
              </a:rPr>
              <a:t>Build + types</a:t>
            </a:r>
            <a:endParaRPr lang="en-US" sz="1400" dirty="0"/>
          </a:p>
        </p:txBody>
      </p:sp>
      <p:sp>
        <p:nvSpPr>
          <p:cNvPr id="9" name="Shape 7"/>
          <p:cNvSpPr/>
          <p:nvPr/>
        </p:nvSpPr>
        <p:spPr>
          <a:xfrm>
            <a:off x="3657600" y="1965960"/>
            <a:ext cx="173736" cy="0"/>
          </a:xfrm>
          <a:prstGeom prst="line">
            <a:avLst/>
          </a:prstGeom>
          <a:noFill/>
          <a:ln w="19050">
            <a:solidFill>
              <a:srgbClr val="4E5A66"/>
            </a:solidFill>
            <a:prstDash val="solid"/>
            <a:tailEnd type="triangle"/>
          </a:ln>
        </p:spPr>
      </p:sp>
      <p:sp>
        <p:nvSpPr>
          <p:cNvPr id="10" name="Shape 8"/>
          <p:cNvSpPr/>
          <p:nvPr/>
        </p:nvSpPr>
        <p:spPr>
          <a:xfrm>
            <a:off x="3877056" y="1572768"/>
            <a:ext cx="1389888" cy="786384"/>
          </a:xfrm>
          <a:prstGeom prst="roundRect">
            <a:avLst>
              <a:gd name="adj" fmla="val 9302"/>
            </a:avLst>
          </a:prstGeom>
          <a:solidFill>
            <a:srgbClr val="FFFFFF"/>
          </a:solidFill>
          <a:ln w="12700">
            <a:solidFill>
              <a:srgbClr val="D9DEE4"/>
            </a:solidFill>
            <a:prstDash val="solid"/>
          </a:ln>
        </p:spPr>
      </p:sp>
      <p:sp>
        <p:nvSpPr>
          <p:cNvPr id="11" name="Text 9"/>
          <p:cNvSpPr txBox="1"/>
          <p:nvPr/>
        </p:nvSpPr>
        <p:spPr>
          <a:xfrm>
            <a:off x="3950208" y="1572768"/>
            <a:ext cx="1243584" cy="786384"/>
          </a:xfrm>
          <a:prstGeom prst="rect">
            <a:avLst/>
          </a:prstGeom>
          <a:noFill/>
          <a:ln/>
        </p:spPr>
        <p:txBody>
          <a:bodyPr wrap="square" lIns="0" tIns="0" rIns="0" bIns="0" rtlCol="0" anchor="ctr"/>
          <a:lstStyle/>
          <a:p>
            <a:pPr algn="ctr" indent="0" marL="0">
              <a:buNone/>
            </a:pPr>
            <a:r>
              <a:rPr lang="en-US" sz="1400" b="1" dirty="0">
                <a:solidFill>
                  <a:srgbClr val="141A21"/>
                </a:solidFill>
                <a:latin typeface="Arial" pitchFamily="34" charset="0"/>
                <a:ea typeface="Arial" pitchFamily="34" charset="-122"/>
                <a:cs typeface="Arial" pitchFamily="34" charset="-120"/>
              </a:rPr>
              <a:t>Unit tests</a:t>
            </a:r>
            <a:endParaRPr lang="en-US" sz="1400" dirty="0"/>
          </a:p>
        </p:txBody>
      </p:sp>
      <p:sp>
        <p:nvSpPr>
          <p:cNvPr id="12" name="Shape 10"/>
          <p:cNvSpPr/>
          <p:nvPr/>
        </p:nvSpPr>
        <p:spPr>
          <a:xfrm>
            <a:off x="5312664" y="1965960"/>
            <a:ext cx="173736" cy="0"/>
          </a:xfrm>
          <a:prstGeom prst="line">
            <a:avLst/>
          </a:prstGeom>
          <a:noFill/>
          <a:ln w="19050">
            <a:solidFill>
              <a:srgbClr val="4E5A66"/>
            </a:solidFill>
            <a:prstDash val="solid"/>
            <a:tailEnd type="triangle"/>
          </a:ln>
        </p:spPr>
      </p:sp>
      <p:sp>
        <p:nvSpPr>
          <p:cNvPr id="13" name="Shape 11"/>
          <p:cNvSpPr/>
          <p:nvPr/>
        </p:nvSpPr>
        <p:spPr>
          <a:xfrm>
            <a:off x="5532120" y="1572768"/>
            <a:ext cx="1389888" cy="786384"/>
          </a:xfrm>
          <a:prstGeom prst="roundRect">
            <a:avLst>
              <a:gd name="adj" fmla="val 9302"/>
            </a:avLst>
          </a:prstGeom>
          <a:solidFill>
            <a:srgbClr val="FFFFFF"/>
          </a:solidFill>
          <a:ln w="12700">
            <a:solidFill>
              <a:srgbClr val="D9DEE4"/>
            </a:solidFill>
            <a:prstDash val="solid"/>
          </a:ln>
        </p:spPr>
      </p:sp>
      <p:sp>
        <p:nvSpPr>
          <p:cNvPr id="14" name="Text 12"/>
          <p:cNvSpPr txBox="1"/>
          <p:nvPr/>
        </p:nvSpPr>
        <p:spPr>
          <a:xfrm>
            <a:off x="5605272" y="1572768"/>
            <a:ext cx="1243584" cy="786384"/>
          </a:xfrm>
          <a:prstGeom prst="rect">
            <a:avLst/>
          </a:prstGeom>
          <a:noFill/>
          <a:ln/>
        </p:spPr>
        <p:txBody>
          <a:bodyPr wrap="square" lIns="0" tIns="0" rIns="0" bIns="0" rtlCol="0" anchor="ctr"/>
          <a:lstStyle/>
          <a:p>
            <a:pPr algn="ctr" indent="0" marL="0">
              <a:buNone/>
            </a:pPr>
            <a:r>
              <a:rPr lang="en-US" sz="1400" b="1" dirty="0">
                <a:solidFill>
                  <a:srgbClr val="141A21"/>
                </a:solidFill>
                <a:latin typeface="Arial" pitchFamily="34" charset="0"/>
                <a:ea typeface="Arial" pitchFamily="34" charset="-122"/>
                <a:cs typeface="Arial" pitchFamily="34" charset="-120"/>
              </a:rPr>
              <a:t>Oracle (answer key)</a:t>
            </a:r>
            <a:endParaRPr lang="en-US" sz="1400" dirty="0"/>
          </a:p>
        </p:txBody>
      </p:sp>
      <p:sp>
        <p:nvSpPr>
          <p:cNvPr id="15" name="Shape 13"/>
          <p:cNvSpPr/>
          <p:nvPr/>
        </p:nvSpPr>
        <p:spPr>
          <a:xfrm>
            <a:off x="6967728" y="1965960"/>
            <a:ext cx="173736" cy="0"/>
          </a:xfrm>
          <a:prstGeom prst="line">
            <a:avLst/>
          </a:prstGeom>
          <a:noFill/>
          <a:ln w="19050">
            <a:solidFill>
              <a:srgbClr val="4E5A66"/>
            </a:solidFill>
            <a:prstDash val="solid"/>
            <a:tailEnd type="triangle"/>
          </a:ln>
        </p:spPr>
      </p:sp>
      <p:sp>
        <p:nvSpPr>
          <p:cNvPr id="16" name="Shape 14"/>
          <p:cNvSpPr/>
          <p:nvPr/>
        </p:nvSpPr>
        <p:spPr>
          <a:xfrm>
            <a:off x="7187184" y="1572768"/>
            <a:ext cx="1389888" cy="786384"/>
          </a:xfrm>
          <a:prstGeom prst="roundRect">
            <a:avLst>
              <a:gd name="adj" fmla="val 9302"/>
            </a:avLst>
          </a:prstGeom>
          <a:solidFill>
            <a:srgbClr val="13704F"/>
          </a:solidFill>
          <a:ln w="12700">
            <a:solidFill>
              <a:srgbClr val="13704F"/>
            </a:solidFill>
            <a:prstDash val="solid"/>
          </a:ln>
        </p:spPr>
      </p:sp>
      <p:sp>
        <p:nvSpPr>
          <p:cNvPr id="17" name="Text 15"/>
          <p:cNvSpPr txBox="1"/>
          <p:nvPr/>
        </p:nvSpPr>
        <p:spPr>
          <a:xfrm>
            <a:off x="7260336" y="1572768"/>
            <a:ext cx="1243584" cy="78638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Checkpoint</a:t>
            </a:r>
            <a:endParaRPr lang="en-US" sz="1400" dirty="0"/>
          </a:p>
        </p:txBody>
      </p:sp>
      <p:sp>
        <p:nvSpPr>
          <p:cNvPr id="18" name="Text 16"/>
          <p:cNvSpPr txBox="1"/>
          <p:nvPr/>
        </p:nvSpPr>
        <p:spPr>
          <a:xfrm>
            <a:off x="566928" y="2542032"/>
            <a:ext cx="8010144" cy="329184"/>
          </a:xfrm>
          <a:prstGeom prst="rect">
            <a:avLst/>
          </a:prstGeom>
          <a:noFill/>
          <a:ln/>
        </p:spPr>
        <p:txBody>
          <a:bodyPr wrap="square" lIns="0" tIns="0" rIns="0" bIns="0" rtlCol="0" anchor="ctr"/>
          <a:lstStyle/>
          <a:p>
            <a:pPr indent="0" marL="0">
              <a:buNone/>
            </a:pPr>
            <a:r>
              <a:rPr lang="en-US" sz="1600" b="1" dirty="0">
                <a:solidFill>
                  <a:srgbClr val="A8352A"/>
                </a:solidFill>
                <a:latin typeface="Calibri" pitchFamily="34" charset="0"/>
                <a:ea typeface="Calibri" pitchFamily="34" charset="-122"/>
                <a:cs typeface="Calibri" pitchFamily="34" charset="-120"/>
              </a:rPr>
              <a:t>Any gate says no  →  </a:t>
            </a:r>
            <a:pPr indent="0" marL="0">
              <a:buNone/>
            </a:pPr>
            <a:r>
              <a:rPr lang="en-US" sz="1600" dirty="0">
                <a:solidFill>
                  <a:srgbClr val="141A21"/>
                </a:solidFill>
                <a:latin typeface="Calibri" pitchFamily="34" charset="0"/>
                <a:ea typeface="Calibri" pitchFamily="34" charset="-122"/>
                <a:cs typeface="Calibri" pitchFamily="34" charset="-120"/>
              </a:rPr>
              <a:t>no checkpoint; the failure is on disk for the next iteration.</a:t>
            </a:r>
            <a:endParaRPr lang="en-US" sz="1600" dirty="0"/>
          </a:p>
        </p:txBody>
      </p:sp>
      <p:sp>
        <p:nvSpPr>
          <p:cNvPr id="19" name="Shape 17"/>
          <p:cNvSpPr/>
          <p:nvPr/>
        </p:nvSpPr>
        <p:spPr>
          <a:xfrm>
            <a:off x="566928" y="3246120"/>
            <a:ext cx="118872" cy="118872"/>
          </a:xfrm>
          <a:prstGeom prst="ellipse">
            <a:avLst/>
          </a:prstGeom>
          <a:solidFill>
            <a:srgbClr val="13704F"/>
          </a:solidFill>
          <a:ln w="12700">
            <a:solidFill>
              <a:srgbClr val="13704F"/>
            </a:solidFill>
            <a:prstDash val="solid"/>
          </a:ln>
        </p:spPr>
      </p:sp>
      <p:sp>
        <p:nvSpPr>
          <p:cNvPr id="20" name="Text 18"/>
          <p:cNvSpPr txBox="1"/>
          <p:nvPr/>
        </p:nvSpPr>
        <p:spPr>
          <a:xfrm>
            <a:off x="841248" y="3127248"/>
            <a:ext cx="3566160" cy="329184"/>
          </a:xfrm>
          <a:prstGeom prst="rect">
            <a:avLst/>
          </a:prstGeom>
          <a:noFill/>
          <a:ln/>
        </p:spPr>
        <p:txBody>
          <a:bodyPr wrap="square" lIns="0" tIns="0" rIns="0" bIns="0" rtlCol="0" anchor="ctr"/>
          <a:lstStyle/>
          <a:p>
            <a:pPr indent="0" marL="0">
              <a:buNone/>
            </a:pPr>
            <a:r>
              <a:rPr lang="en-US" sz="1900" b="1" dirty="0">
                <a:solidFill>
                  <a:srgbClr val="141A21"/>
                </a:solidFill>
                <a:latin typeface="Arial" pitchFamily="34" charset="0"/>
                <a:ea typeface="Arial" pitchFamily="34" charset="-122"/>
                <a:cs typeface="Arial" pitchFamily="34" charset="-120"/>
              </a:rPr>
              <a:t>The checks decide</a:t>
            </a:r>
            <a:endParaRPr lang="en-US" sz="1900" dirty="0"/>
          </a:p>
        </p:txBody>
      </p:sp>
      <p:sp>
        <p:nvSpPr>
          <p:cNvPr id="21" name="Text 19"/>
          <p:cNvSpPr txBox="1"/>
          <p:nvPr/>
        </p:nvSpPr>
        <p:spPr>
          <a:xfrm>
            <a:off x="841248" y="3474720"/>
            <a:ext cx="3566160" cy="310896"/>
          </a:xfrm>
          <a:prstGeom prst="rect">
            <a:avLst/>
          </a:prstGeom>
          <a:noFill/>
          <a:ln/>
        </p:spPr>
        <p:txBody>
          <a:bodyPr wrap="square" lIns="0" tIns="0" rIns="0" bIns="0" rtlCol="0" anchor="t"/>
          <a:lstStyle/>
          <a:p>
            <a:pPr indent="0" marL="0">
              <a:lnSpc>
                <a:spcPct val="105000"/>
              </a:lnSpc>
              <a:buNone/>
            </a:pPr>
            <a:r>
              <a:rPr lang="en-US" sz="1600" dirty="0">
                <a:solidFill>
                  <a:srgbClr val="4E5A66"/>
                </a:solidFill>
                <a:latin typeface="Calibri" pitchFamily="34" charset="0"/>
                <a:ea typeface="Calibri" pitchFamily="34" charset="-122"/>
                <a:cs typeface="Calibri" pitchFamily="34" charset="-120"/>
              </a:rPr>
              <a:t>Not the agent's claim that it is done.</a:t>
            </a:r>
            <a:endParaRPr lang="en-US" sz="1600" dirty="0"/>
          </a:p>
        </p:txBody>
      </p:sp>
      <p:sp>
        <p:nvSpPr>
          <p:cNvPr id="22" name="Shape 20"/>
          <p:cNvSpPr/>
          <p:nvPr/>
        </p:nvSpPr>
        <p:spPr>
          <a:xfrm>
            <a:off x="4736592" y="3246120"/>
            <a:ext cx="118872" cy="118872"/>
          </a:xfrm>
          <a:prstGeom prst="ellipse">
            <a:avLst/>
          </a:prstGeom>
          <a:solidFill>
            <a:srgbClr val="13704F"/>
          </a:solidFill>
          <a:ln w="12700">
            <a:solidFill>
              <a:srgbClr val="13704F"/>
            </a:solidFill>
            <a:prstDash val="solid"/>
          </a:ln>
        </p:spPr>
      </p:sp>
      <p:sp>
        <p:nvSpPr>
          <p:cNvPr id="23" name="Text 21"/>
          <p:cNvSpPr txBox="1"/>
          <p:nvPr/>
        </p:nvSpPr>
        <p:spPr>
          <a:xfrm>
            <a:off x="5010912" y="3127248"/>
            <a:ext cx="3566160" cy="329184"/>
          </a:xfrm>
          <a:prstGeom prst="rect">
            <a:avLst/>
          </a:prstGeom>
          <a:noFill/>
          <a:ln/>
        </p:spPr>
        <p:txBody>
          <a:bodyPr wrap="square" lIns="0" tIns="0" rIns="0" bIns="0" rtlCol="0" anchor="ctr"/>
          <a:lstStyle/>
          <a:p>
            <a:pPr indent="0" marL="0">
              <a:buNone/>
            </a:pPr>
            <a:r>
              <a:rPr lang="en-US" sz="1900" b="1" dirty="0">
                <a:solidFill>
                  <a:srgbClr val="141A21"/>
                </a:solidFill>
                <a:latin typeface="Arial" pitchFamily="34" charset="0"/>
                <a:ea typeface="Arial" pitchFamily="34" charset="-122"/>
                <a:cs typeface="Arial" pitchFamily="34" charset="-120"/>
              </a:rPr>
              <a:t>Fast beats thorough</a:t>
            </a:r>
            <a:endParaRPr lang="en-US" sz="1900" dirty="0"/>
          </a:p>
        </p:txBody>
      </p:sp>
      <p:sp>
        <p:nvSpPr>
          <p:cNvPr id="24" name="Text 22"/>
          <p:cNvSpPr txBox="1"/>
          <p:nvPr/>
        </p:nvSpPr>
        <p:spPr>
          <a:xfrm>
            <a:off x="5010912" y="3474720"/>
            <a:ext cx="3566160" cy="310896"/>
          </a:xfrm>
          <a:prstGeom prst="rect">
            <a:avLst/>
          </a:prstGeom>
          <a:noFill/>
          <a:ln/>
        </p:spPr>
        <p:txBody>
          <a:bodyPr wrap="square" lIns="0" tIns="0" rIns="0" bIns="0" rtlCol="0" anchor="t"/>
          <a:lstStyle/>
          <a:p>
            <a:pPr indent="0" marL="0">
              <a:lnSpc>
                <a:spcPct val="105000"/>
              </a:lnSpc>
              <a:buNone/>
            </a:pPr>
            <a:r>
              <a:rPr lang="en-US" sz="1600" dirty="0">
                <a:solidFill>
                  <a:srgbClr val="4E5A66"/>
                </a:solidFill>
                <a:latin typeface="Calibri" pitchFamily="34" charset="0"/>
                <a:ea typeface="Calibri" pitchFamily="34" charset="-122"/>
                <a:cs typeface="Calibri" pitchFamily="34" charset="-120"/>
              </a:rPr>
              <a:t>The checks run on every iteration.</a:t>
            </a:r>
            <a:endParaRPr lang="en-US" sz="1600" dirty="0"/>
          </a:p>
        </p:txBody>
      </p:sp>
      <p:sp>
        <p:nvSpPr>
          <p:cNvPr id="25" name="Text 23"/>
          <p:cNvSpPr txBox="1"/>
          <p:nvPr/>
        </p:nvSpPr>
        <p:spPr>
          <a:xfrm>
            <a:off x="566928" y="4315968"/>
            <a:ext cx="8010144" cy="310896"/>
          </a:xfrm>
          <a:prstGeom prst="rect">
            <a:avLst/>
          </a:prstGeom>
          <a:noFill/>
          <a:ln/>
        </p:spPr>
        <p:txBody>
          <a:bodyPr wrap="square" lIns="0" tIns="0" rIns="0" bIns="0" rtlCol="0" anchor="ctr"/>
          <a:lstStyle/>
          <a:p>
            <a:pPr indent="0" marL="0">
              <a:buNone/>
            </a:pPr>
            <a:r>
              <a:rPr lang="en-US" sz="1300" dirty="0">
                <a:solidFill>
                  <a:srgbClr val="4E5A66"/>
                </a:solidFill>
                <a:latin typeface="Courier New" pitchFamily="34" charset="0"/>
                <a:ea typeface="Courier New" pitchFamily="34" charset="-122"/>
                <a:cs typeface="Courier New" pitchFamily="34" charset="-120"/>
              </a:rPr>
              <a:t>In the real run:  56 backend cases  ·  12 frontend checks  ·  19 hashed files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8"/>
        </a:solidFill>
      </p:bgPr>
    </p:bg>
    <p:spTree>
      <p:nvGrpSpPr>
        <p:cNvPr id="1" name=""/>
        <p:cNvGrpSpPr/>
        <p:nvPr/>
      </p:nvGrpSpPr>
      <p:grpSpPr>
        <a:xfrm>
          <a:off x="0" y="0"/>
          <a:ext cx="0" cy="0"/>
          <a:chOff x="0" y="0"/>
          <a:chExt cx="0" cy="0"/>
        </a:xfrm>
      </p:grpSpPr>
      <p:sp>
        <p:nvSpPr>
          <p:cNvPr id="2" name="Text 0"/>
          <p:cNvSpPr txBox="1"/>
          <p:nvPr/>
        </p:nvSpPr>
        <p:spPr>
          <a:xfrm>
            <a:off x="566928" y="256032"/>
            <a:ext cx="1828800" cy="256032"/>
          </a:xfrm>
          <a:prstGeom prst="rect">
            <a:avLst/>
          </a:prstGeom>
          <a:noFill/>
          <a:ln/>
        </p:spPr>
        <p:txBody>
          <a:bodyPr wrap="square" lIns="0" tIns="0" rIns="0" bIns="0" rtlCol="0" anchor="ctr"/>
          <a:lstStyle/>
          <a:p>
            <a:pPr indent="0" marL="0">
              <a:buNone/>
            </a:pPr>
            <a:r>
              <a:rPr lang="en-US" sz="1100" spc="100" kern="0" dirty="0">
                <a:solidFill>
                  <a:srgbClr val="4E5A66"/>
                </a:solidFill>
                <a:latin typeface="Courier New" pitchFamily="34" charset="0"/>
                <a:ea typeface="Courier New" pitchFamily="34" charset="-122"/>
                <a:cs typeface="Courier New" pitchFamily="34" charset="-120"/>
              </a:rPr>
              <a:t>05 / 10</a:t>
            </a:r>
            <a:endParaRPr lang="en-US" sz="1100" dirty="0"/>
          </a:p>
        </p:txBody>
      </p:sp>
      <p:sp>
        <p:nvSpPr>
          <p:cNvPr id="3" name="Text 1"/>
          <p:cNvSpPr txBox="1"/>
          <p:nvPr/>
        </p:nvSpPr>
        <p:spPr>
          <a:xfrm>
            <a:off x="566928" y="640080"/>
            <a:ext cx="8010144" cy="676656"/>
          </a:xfrm>
          <a:prstGeom prst="rect">
            <a:avLst/>
          </a:prstGeom>
          <a:noFill/>
          <a:ln/>
        </p:spPr>
        <p:txBody>
          <a:bodyPr wrap="square" lIns="0" tIns="0" rIns="0" bIns="0" rtlCol="0" anchor="ctr"/>
          <a:lstStyle/>
          <a:p>
            <a:pPr indent="0" marL="0">
              <a:buNone/>
            </a:pPr>
            <a:r>
              <a:rPr lang="en-US" sz="3200" b="1" dirty="0">
                <a:solidFill>
                  <a:srgbClr val="141A21"/>
                </a:solidFill>
                <a:latin typeface="Arial" pitchFamily="34" charset="0"/>
                <a:ea typeface="Arial" pitchFamily="34" charset="-122"/>
                <a:cs typeface="Arial" pitchFamily="34" charset="-120"/>
              </a:rPr>
              <a:t>A real run: 0 to 68 in ten iterations</a:t>
            </a:r>
            <a:endParaRPr lang="en-US" sz="3200" dirty="0"/>
          </a:p>
        </p:txBody>
      </p:sp>
      <p:sp>
        <p:nvSpPr>
          <p:cNvPr id="4" name="Text 2"/>
          <p:cNvSpPr txBox="1"/>
          <p:nvPr/>
        </p:nvSpPr>
        <p:spPr>
          <a:xfrm>
            <a:off x="566928" y="1353312"/>
            <a:ext cx="8010144" cy="292608"/>
          </a:xfrm>
          <a:prstGeom prst="rect">
            <a:avLst/>
          </a:prstGeom>
          <a:noFill/>
          <a:ln/>
        </p:spPr>
        <p:txBody>
          <a:bodyPr wrap="square" lIns="0" tIns="0" rIns="0" bIns="0" rtlCol="0" anchor="ctr"/>
          <a:lstStyle/>
          <a:p>
            <a:pPr indent="0" marL="0">
              <a:buNone/>
            </a:pPr>
            <a:r>
              <a:rPr lang="en-US" sz="1500" dirty="0">
                <a:solidFill>
                  <a:srgbClr val="4E5A66"/>
                </a:solidFill>
                <a:latin typeface="Calibri" pitchFamily="34" charset="0"/>
                <a:ea typeface="Calibri" pitchFamily="34" charset="-122"/>
                <a:cs typeface="Calibri" pitchFamily="34" charset="-120"/>
              </a:rPr>
              <a:t>Character creation for an Open Tibia server  ·  claude-sonnet-5  ·  53 min  ·  ≈ $9 at API list price</a:t>
            </a:r>
            <a:endParaRPr lang="en-US" sz="1500" dirty="0"/>
          </a:p>
        </p:txBody>
      </p:sp>
      <p:graphicFrame>
        <p:nvGraphicFramePr>
          <p:cNvPr id="5" name="Chart 0" descr=""/>
          <p:cNvGraphicFramePr/>
          <p:nvPr/>
        </p:nvGraphicFramePr>
        <p:xfrm>
          <a:off x="566928" y="1700784"/>
          <a:ext cx="8010144" cy="2231136"/>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566928" y="4059936"/>
            <a:ext cx="8010144" cy="365760"/>
          </a:xfrm>
          <a:prstGeom prst="rect">
            <a:avLst/>
          </a:prstGeom>
          <a:noFill/>
          <a:ln/>
        </p:spPr>
        <p:txBody>
          <a:bodyPr wrap="square" lIns="0" tIns="0" rIns="0" bIns="0" rtlCol="0" anchor="ctr"/>
          <a:lstStyle/>
          <a:p>
            <a:pPr indent="0" marL="0">
              <a:buNone/>
            </a:pPr>
            <a:r>
              <a:rPr lang="en-US" sz="1600" b="1" dirty="0">
                <a:solidFill>
                  <a:srgbClr val="4E5A66"/>
                </a:solidFill>
                <a:latin typeface="Calibri" pitchFamily="34" charset="0"/>
                <a:ea typeface="Calibri" pitchFamily="34" charset="-122"/>
                <a:cs typeface="Calibri" pitchFamily="34" charset="-120"/>
              </a:rPr>
              <a:t>Overall   </a:t>
            </a:r>
            <a:pPr indent="0" marL="0">
              <a:buNone/>
            </a:pPr>
            <a:r>
              <a:rPr lang="en-US" sz="1600" b="1" dirty="0">
                <a:solidFill>
                  <a:srgbClr val="A8352A"/>
                </a:solidFill>
                <a:latin typeface="Courier New" pitchFamily="34" charset="0"/>
                <a:ea typeface="Courier New" pitchFamily="34" charset="-122"/>
                <a:cs typeface="Courier New" pitchFamily="34" charset="-120"/>
              </a:rPr>
              <a:t>RED through 9, even at backend 56/56  ·  </a:t>
            </a:r>
            <a:pPr indent="0" marL="0">
              <a:buNone/>
            </a:pPr>
            <a:r>
              <a:rPr lang="en-US" sz="1600" b="1" dirty="0">
                <a:solidFill>
                  <a:srgbClr val="13704F"/>
                </a:solidFill>
                <a:latin typeface="Courier New" pitchFamily="34" charset="0"/>
                <a:ea typeface="Courier New" pitchFamily="34" charset="-122"/>
                <a:cs typeface="Courier New" pitchFamily="34" charset="-120"/>
              </a:rPr>
              <a:t>GREEN at 10</a:t>
            </a:r>
            <a:endParaRPr lang="en-US" sz="1600" dirty="0"/>
          </a:p>
        </p:txBody>
      </p:sp>
      <p:sp>
        <p:nvSpPr>
          <p:cNvPr id="7" name="Text 4"/>
          <p:cNvSpPr txBox="1"/>
          <p:nvPr/>
        </p:nvSpPr>
        <p:spPr>
          <a:xfrm>
            <a:off x="566928" y="4553712"/>
            <a:ext cx="8010144" cy="310896"/>
          </a:xfrm>
          <a:prstGeom prst="rect">
            <a:avLst/>
          </a:prstGeom>
          <a:noFill/>
          <a:ln/>
        </p:spPr>
        <p:txBody>
          <a:bodyPr wrap="square" lIns="0" tIns="0" rIns="0" bIns="0" rtlCol="0" anchor="ctr"/>
          <a:lstStyle/>
          <a:p>
            <a:pPr indent="0" marL="0">
              <a:buNone/>
            </a:pPr>
            <a:r>
              <a:rPr lang="en-US" sz="1400" dirty="0">
                <a:solidFill>
                  <a:srgbClr val="141A21"/>
                </a:solidFill>
                <a:latin typeface="Courier New" pitchFamily="34" charset="0"/>
                <a:ea typeface="Courier New" pitchFamily="34" charset="-122"/>
                <a:cs typeface="Courier New" pitchFamily="34" charset="-120"/>
              </a:rPr>
              <a:t>0 stalls  ·  0 regressions  ·  0 tamper halts  ·  one run, no baseline</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8"/>
        </a:solidFill>
      </p:bgPr>
    </p:bg>
    <p:spTree>
      <p:nvGrpSpPr>
        <p:cNvPr id="1" name=""/>
        <p:cNvGrpSpPr/>
        <p:nvPr/>
      </p:nvGrpSpPr>
      <p:grpSpPr>
        <a:xfrm>
          <a:off x="0" y="0"/>
          <a:ext cx="0" cy="0"/>
          <a:chOff x="0" y="0"/>
          <a:chExt cx="0" cy="0"/>
        </a:xfrm>
      </p:grpSpPr>
      <p:sp>
        <p:nvSpPr>
          <p:cNvPr id="2" name="Text 0"/>
          <p:cNvSpPr txBox="1"/>
          <p:nvPr/>
        </p:nvSpPr>
        <p:spPr>
          <a:xfrm>
            <a:off x="566928" y="256032"/>
            <a:ext cx="1828800" cy="256032"/>
          </a:xfrm>
          <a:prstGeom prst="rect">
            <a:avLst/>
          </a:prstGeom>
          <a:noFill/>
          <a:ln/>
        </p:spPr>
        <p:txBody>
          <a:bodyPr wrap="square" lIns="0" tIns="0" rIns="0" bIns="0" rtlCol="0" anchor="ctr"/>
          <a:lstStyle/>
          <a:p>
            <a:pPr indent="0" marL="0">
              <a:buNone/>
            </a:pPr>
            <a:r>
              <a:rPr lang="en-US" sz="1100" spc="100" kern="0" dirty="0">
                <a:solidFill>
                  <a:srgbClr val="4E5A66"/>
                </a:solidFill>
                <a:latin typeface="Courier New" pitchFamily="34" charset="0"/>
                <a:ea typeface="Courier New" pitchFamily="34" charset="-122"/>
                <a:cs typeface="Courier New" pitchFamily="34" charset="-120"/>
              </a:rPr>
              <a:t>06 / 10</a:t>
            </a:r>
            <a:endParaRPr lang="en-US" sz="1100" dirty="0"/>
          </a:p>
        </p:txBody>
      </p:sp>
      <p:sp>
        <p:nvSpPr>
          <p:cNvPr id="3" name="Text 1"/>
          <p:cNvSpPr txBox="1"/>
          <p:nvPr/>
        </p:nvSpPr>
        <p:spPr>
          <a:xfrm>
            <a:off x="566928" y="640080"/>
            <a:ext cx="8010144" cy="676656"/>
          </a:xfrm>
          <a:prstGeom prst="rect">
            <a:avLst/>
          </a:prstGeom>
          <a:noFill/>
          <a:ln/>
        </p:spPr>
        <p:txBody>
          <a:bodyPr wrap="square" lIns="0" tIns="0" rIns="0" bIns="0" rtlCol="0" anchor="ctr"/>
          <a:lstStyle/>
          <a:p>
            <a:pPr indent="0" marL="0">
              <a:buNone/>
            </a:pPr>
            <a:r>
              <a:rPr lang="en-US" sz="3200" b="1" dirty="0">
                <a:solidFill>
                  <a:srgbClr val="141A21"/>
                </a:solidFill>
                <a:latin typeface="Arial" pitchFamily="34" charset="0"/>
                <a:ea typeface="Arial" pitchFamily="34" charset="-122"/>
                <a:cs typeface="Arial" pitchFamily="34" charset="-120"/>
              </a:rPr>
              <a:t>Failure modes and guardrails</a:t>
            </a:r>
            <a:endParaRPr lang="en-US" sz="3200" dirty="0"/>
          </a:p>
        </p:txBody>
      </p:sp>
      <p:sp>
        <p:nvSpPr>
          <p:cNvPr id="4" name="Text 2"/>
          <p:cNvSpPr txBox="1"/>
          <p:nvPr/>
        </p:nvSpPr>
        <p:spPr>
          <a:xfrm>
            <a:off x="566928" y="1371600"/>
            <a:ext cx="3840480" cy="274320"/>
          </a:xfrm>
          <a:prstGeom prst="rect">
            <a:avLst/>
          </a:prstGeom>
          <a:noFill/>
          <a:ln/>
        </p:spPr>
        <p:txBody>
          <a:bodyPr wrap="square" lIns="0" tIns="0" rIns="0" bIns="0" rtlCol="0" anchor="ctr"/>
          <a:lstStyle/>
          <a:p>
            <a:pPr indent="0" marL="0">
              <a:buNone/>
            </a:pPr>
            <a:r>
              <a:rPr lang="en-US" sz="1200" spc="140" kern="0" dirty="0">
                <a:solidFill>
                  <a:srgbClr val="4E5A66"/>
                </a:solidFill>
                <a:latin typeface="Courier New" pitchFamily="34" charset="0"/>
                <a:ea typeface="Courier New" pitchFamily="34" charset="-122"/>
                <a:cs typeface="Courier New" pitchFamily="34" charset="-120"/>
              </a:rPr>
              <a:t>THE AGENT…</a:t>
            </a:r>
            <a:endParaRPr lang="en-US" sz="1200" dirty="0"/>
          </a:p>
        </p:txBody>
      </p:sp>
      <p:sp>
        <p:nvSpPr>
          <p:cNvPr id="5" name="Text 3"/>
          <p:cNvSpPr txBox="1"/>
          <p:nvPr/>
        </p:nvSpPr>
        <p:spPr>
          <a:xfrm>
            <a:off x="4480560" y="1371600"/>
            <a:ext cx="3840480" cy="274320"/>
          </a:xfrm>
          <a:prstGeom prst="rect">
            <a:avLst/>
          </a:prstGeom>
          <a:noFill/>
          <a:ln/>
        </p:spPr>
        <p:txBody>
          <a:bodyPr wrap="square" lIns="0" tIns="0" rIns="0" bIns="0" rtlCol="0" anchor="ctr"/>
          <a:lstStyle/>
          <a:p>
            <a:pPr indent="0" marL="0">
              <a:buNone/>
            </a:pPr>
            <a:r>
              <a:rPr lang="en-US" sz="1200" spc="140" kern="0" dirty="0">
                <a:solidFill>
                  <a:srgbClr val="4E5A66"/>
                </a:solidFill>
                <a:latin typeface="Courier New" pitchFamily="34" charset="0"/>
                <a:ea typeface="Courier New" pitchFamily="34" charset="-122"/>
                <a:cs typeface="Courier New" pitchFamily="34" charset="-120"/>
              </a:rPr>
              <a:t>THIS RUNNER</a:t>
            </a:r>
            <a:endParaRPr lang="en-US" sz="1200" dirty="0"/>
          </a:p>
        </p:txBody>
      </p:sp>
      <p:sp>
        <p:nvSpPr>
          <p:cNvPr id="6" name="Shape 4"/>
          <p:cNvSpPr/>
          <p:nvPr/>
        </p:nvSpPr>
        <p:spPr>
          <a:xfrm>
            <a:off x="566928" y="1737360"/>
            <a:ext cx="8010144" cy="0"/>
          </a:xfrm>
          <a:prstGeom prst="line">
            <a:avLst/>
          </a:prstGeom>
          <a:noFill/>
          <a:ln w="12700">
            <a:solidFill>
              <a:srgbClr val="D9DEE4"/>
            </a:solidFill>
            <a:prstDash val="solid"/>
          </a:ln>
        </p:spPr>
      </p:sp>
      <p:sp>
        <p:nvSpPr>
          <p:cNvPr id="7" name="Text 5"/>
          <p:cNvSpPr txBox="1"/>
          <p:nvPr/>
        </p:nvSpPr>
        <p:spPr>
          <a:xfrm>
            <a:off x="566928" y="1737360"/>
            <a:ext cx="3730752" cy="457200"/>
          </a:xfrm>
          <a:prstGeom prst="rect">
            <a:avLst/>
          </a:prstGeom>
          <a:noFill/>
          <a:ln/>
        </p:spPr>
        <p:txBody>
          <a:bodyPr wrap="square" lIns="0" tIns="0" rIns="0" bIns="0" rtlCol="0" anchor="ctr"/>
          <a:lstStyle/>
          <a:p>
            <a:pPr indent="0" marL="0">
              <a:buNone/>
            </a:pPr>
            <a:r>
              <a:rPr lang="en-US" sz="1600" b="1" dirty="0">
                <a:solidFill>
                  <a:srgbClr val="141A21"/>
                </a:solidFill>
                <a:latin typeface="Arial" pitchFamily="34" charset="0"/>
                <a:ea typeface="Arial" pitchFamily="34" charset="-122"/>
                <a:cs typeface="Arial" pitchFamily="34" charset="-120"/>
              </a:rPr>
              <a:t>Edits the tests to pass</a:t>
            </a:r>
            <a:endParaRPr lang="en-US" sz="1600" dirty="0"/>
          </a:p>
        </p:txBody>
      </p:sp>
      <p:sp>
        <p:nvSpPr>
          <p:cNvPr id="8" name="Shape 6"/>
          <p:cNvSpPr/>
          <p:nvPr/>
        </p:nvSpPr>
        <p:spPr>
          <a:xfrm>
            <a:off x="4480560" y="1911096"/>
            <a:ext cx="118872" cy="118872"/>
          </a:xfrm>
          <a:prstGeom prst="ellipse">
            <a:avLst/>
          </a:prstGeom>
          <a:solidFill>
            <a:srgbClr val="13704F"/>
          </a:solidFill>
          <a:ln w="12700">
            <a:solidFill>
              <a:srgbClr val="13704F"/>
            </a:solidFill>
            <a:prstDash val="solid"/>
          </a:ln>
        </p:spPr>
      </p:sp>
      <p:sp>
        <p:nvSpPr>
          <p:cNvPr id="9" name="Text 7"/>
          <p:cNvSpPr txBox="1"/>
          <p:nvPr/>
        </p:nvSpPr>
        <p:spPr>
          <a:xfrm>
            <a:off x="4754880" y="1737360"/>
            <a:ext cx="3822192" cy="457200"/>
          </a:xfrm>
          <a:prstGeom prst="rect">
            <a:avLst/>
          </a:prstGeom>
          <a:noFill/>
          <a:ln/>
        </p:spPr>
        <p:txBody>
          <a:bodyPr wrap="square" lIns="0" tIns="0" rIns="0" bIns="0" rtlCol="0" anchor="ctr"/>
          <a:lstStyle/>
          <a:p>
            <a:pPr indent="0" marL="0">
              <a:buNone/>
            </a:pPr>
            <a:r>
              <a:rPr lang="en-US" sz="1600" dirty="0">
                <a:solidFill>
                  <a:srgbClr val="141A21"/>
                </a:solidFill>
                <a:latin typeface="Calibri" pitchFamily="34" charset="0"/>
                <a:ea typeface="Calibri" pitchFamily="34" charset="-122"/>
                <a:cs typeface="Calibri" pitchFamily="34" charset="-120"/>
              </a:rPr>
              <a:t>Oracle files hashed; a change halts</a:t>
            </a:r>
            <a:endParaRPr lang="en-US" sz="1600" dirty="0"/>
          </a:p>
        </p:txBody>
      </p:sp>
      <p:sp>
        <p:nvSpPr>
          <p:cNvPr id="10" name="Shape 8"/>
          <p:cNvSpPr/>
          <p:nvPr/>
        </p:nvSpPr>
        <p:spPr>
          <a:xfrm>
            <a:off x="566928" y="2194560"/>
            <a:ext cx="8010144" cy="0"/>
          </a:xfrm>
          <a:prstGeom prst="line">
            <a:avLst/>
          </a:prstGeom>
          <a:noFill/>
          <a:ln w="12700">
            <a:solidFill>
              <a:srgbClr val="D9DEE4"/>
            </a:solidFill>
            <a:prstDash val="solid"/>
          </a:ln>
        </p:spPr>
      </p:sp>
      <p:sp>
        <p:nvSpPr>
          <p:cNvPr id="11" name="Text 9"/>
          <p:cNvSpPr txBox="1"/>
          <p:nvPr/>
        </p:nvSpPr>
        <p:spPr>
          <a:xfrm>
            <a:off x="566928" y="2194560"/>
            <a:ext cx="3730752" cy="457200"/>
          </a:xfrm>
          <a:prstGeom prst="rect">
            <a:avLst/>
          </a:prstGeom>
          <a:noFill/>
          <a:ln/>
        </p:spPr>
        <p:txBody>
          <a:bodyPr wrap="square" lIns="0" tIns="0" rIns="0" bIns="0" rtlCol="0" anchor="ctr"/>
          <a:lstStyle/>
          <a:p>
            <a:pPr indent="0" marL="0">
              <a:buNone/>
            </a:pPr>
            <a:r>
              <a:rPr lang="en-US" sz="1600" b="1" dirty="0">
                <a:solidFill>
                  <a:srgbClr val="141A21"/>
                </a:solidFill>
                <a:latin typeface="Arial" pitchFamily="34" charset="0"/>
                <a:ea typeface="Arial" pitchFamily="34" charset="-122"/>
                <a:cs typeface="Arial" pitchFamily="34" charset="-120"/>
              </a:rPr>
              <a:t>Breaks what already worked</a:t>
            </a:r>
            <a:endParaRPr lang="en-US" sz="1600" dirty="0"/>
          </a:p>
        </p:txBody>
      </p:sp>
      <p:sp>
        <p:nvSpPr>
          <p:cNvPr id="12" name="Shape 10"/>
          <p:cNvSpPr/>
          <p:nvPr/>
        </p:nvSpPr>
        <p:spPr>
          <a:xfrm>
            <a:off x="4480560" y="2368296"/>
            <a:ext cx="118872" cy="118872"/>
          </a:xfrm>
          <a:prstGeom prst="ellipse">
            <a:avLst/>
          </a:prstGeom>
          <a:solidFill>
            <a:srgbClr val="13704F"/>
          </a:solidFill>
          <a:ln w="12700">
            <a:solidFill>
              <a:srgbClr val="13704F"/>
            </a:solidFill>
            <a:prstDash val="solid"/>
          </a:ln>
        </p:spPr>
      </p:sp>
      <p:sp>
        <p:nvSpPr>
          <p:cNvPr id="13" name="Text 11"/>
          <p:cNvSpPr txBox="1"/>
          <p:nvPr/>
        </p:nvSpPr>
        <p:spPr>
          <a:xfrm>
            <a:off x="4754880" y="2194560"/>
            <a:ext cx="3822192" cy="457200"/>
          </a:xfrm>
          <a:prstGeom prst="rect">
            <a:avLst/>
          </a:prstGeom>
          <a:noFill/>
          <a:ln/>
        </p:spPr>
        <p:txBody>
          <a:bodyPr wrap="square" lIns="0" tIns="0" rIns="0" bIns="0" rtlCol="0" anchor="ctr"/>
          <a:lstStyle/>
          <a:p>
            <a:pPr indent="0" marL="0">
              <a:buNone/>
            </a:pPr>
            <a:r>
              <a:rPr lang="en-US" sz="1600" dirty="0">
                <a:solidFill>
                  <a:srgbClr val="141A21"/>
                </a:solidFill>
                <a:latin typeface="Calibri" pitchFamily="34" charset="0"/>
                <a:ea typeface="Calibri" pitchFamily="34" charset="-122"/>
                <a:cs typeface="Calibri" pitchFamily="34" charset="-120"/>
              </a:rPr>
              <a:t>The score may not fall; a drop is the next job</a:t>
            </a:r>
            <a:endParaRPr lang="en-US" sz="1600" dirty="0"/>
          </a:p>
        </p:txBody>
      </p:sp>
      <p:sp>
        <p:nvSpPr>
          <p:cNvPr id="14" name="Shape 12"/>
          <p:cNvSpPr/>
          <p:nvPr/>
        </p:nvSpPr>
        <p:spPr>
          <a:xfrm>
            <a:off x="566928" y="2651760"/>
            <a:ext cx="8010144" cy="0"/>
          </a:xfrm>
          <a:prstGeom prst="line">
            <a:avLst/>
          </a:prstGeom>
          <a:noFill/>
          <a:ln w="12700">
            <a:solidFill>
              <a:srgbClr val="D9DEE4"/>
            </a:solidFill>
            <a:prstDash val="solid"/>
          </a:ln>
        </p:spPr>
      </p:sp>
      <p:sp>
        <p:nvSpPr>
          <p:cNvPr id="15" name="Text 13"/>
          <p:cNvSpPr txBox="1"/>
          <p:nvPr/>
        </p:nvSpPr>
        <p:spPr>
          <a:xfrm>
            <a:off x="566928" y="2651760"/>
            <a:ext cx="3730752" cy="457200"/>
          </a:xfrm>
          <a:prstGeom prst="rect">
            <a:avLst/>
          </a:prstGeom>
          <a:noFill/>
          <a:ln/>
        </p:spPr>
        <p:txBody>
          <a:bodyPr wrap="square" lIns="0" tIns="0" rIns="0" bIns="0" rtlCol="0" anchor="ctr"/>
          <a:lstStyle/>
          <a:p>
            <a:pPr indent="0" marL="0">
              <a:buNone/>
            </a:pPr>
            <a:r>
              <a:rPr lang="en-US" sz="1600" b="1" dirty="0">
                <a:solidFill>
                  <a:srgbClr val="141A21"/>
                </a:solidFill>
                <a:latin typeface="Arial" pitchFamily="34" charset="0"/>
                <a:ea typeface="Arial" pitchFamily="34" charset="-122"/>
                <a:cs typeface="Arial" pitchFamily="34" charset="-120"/>
              </a:rPr>
              <a:t>Spins its wheels</a:t>
            </a:r>
            <a:endParaRPr lang="en-US" sz="1600" dirty="0"/>
          </a:p>
        </p:txBody>
      </p:sp>
      <p:sp>
        <p:nvSpPr>
          <p:cNvPr id="16" name="Shape 14"/>
          <p:cNvSpPr/>
          <p:nvPr/>
        </p:nvSpPr>
        <p:spPr>
          <a:xfrm>
            <a:off x="4480560" y="2825496"/>
            <a:ext cx="118872" cy="118872"/>
          </a:xfrm>
          <a:prstGeom prst="ellipse">
            <a:avLst/>
          </a:prstGeom>
          <a:solidFill>
            <a:srgbClr val="13704F"/>
          </a:solidFill>
          <a:ln w="12700">
            <a:solidFill>
              <a:srgbClr val="13704F"/>
            </a:solidFill>
            <a:prstDash val="solid"/>
          </a:ln>
        </p:spPr>
      </p:sp>
      <p:sp>
        <p:nvSpPr>
          <p:cNvPr id="17" name="Text 15"/>
          <p:cNvSpPr txBox="1"/>
          <p:nvPr/>
        </p:nvSpPr>
        <p:spPr>
          <a:xfrm>
            <a:off x="4754880" y="2651760"/>
            <a:ext cx="3822192" cy="457200"/>
          </a:xfrm>
          <a:prstGeom prst="rect">
            <a:avLst/>
          </a:prstGeom>
          <a:noFill/>
          <a:ln/>
        </p:spPr>
        <p:txBody>
          <a:bodyPr wrap="square" lIns="0" tIns="0" rIns="0" bIns="0" rtlCol="0" anchor="ctr"/>
          <a:lstStyle/>
          <a:p>
            <a:pPr indent="0" marL="0">
              <a:buNone/>
            </a:pPr>
            <a:r>
              <a:rPr lang="en-US" sz="1600" dirty="0">
                <a:solidFill>
                  <a:srgbClr val="141A21"/>
                </a:solidFill>
                <a:latin typeface="Calibri" pitchFamily="34" charset="0"/>
                <a:ea typeface="Calibri" pitchFamily="34" charset="-122"/>
                <a:cs typeface="Calibri" pitchFamily="34" charset="-120"/>
              </a:rPr>
              <a:t>Stall detector and an iteration cap</a:t>
            </a:r>
            <a:endParaRPr lang="en-US" sz="1600" dirty="0"/>
          </a:p>
        </p:txBody>
      </p:sp>
      <p:sp>
        <p:nvSpPr>
          <p:cNvPr id="18" name="Shape 16"/>
          <p:cNvSpPr/>
          <p:nvPr/>
        </p:nvSpPr>
        <p:spPr>
          <a:xfrm>
            <a:off x="566928" y="3108960"/>
            <a:ext cx="8010144" cy="0"/>
          </a:xfrm>
          <a:prstGeom prst="line">
            <a:avLst/>
          </a:prstGeom>
          <a:noFill/>
          <a:ln w="12700">
            <a:solidFill>
              <a:srgbClr val="D9DEE4"/>
            </a:solidFill>
            <a:prstDash val="solid"/>
          </a:ln>
        </p:spPr>
      </p:sp>
      <p:sp>
        <p:nvSpPr>
          <p:cNvPr id="19" name="Text 17"/>
          <p:cNvSpPr txBox="1"/>
          <p:nvPr/>
        </p:nvSpPr>
        <p:spPr>
          <a:xfrm>
            <a:off x="566928" y="3108960"/>
            <a:ext cx="3730752" cy="457200"/>
          </a:xfrm>
          <a:prstGeom prst="rect">
            <a:avLst/>
          </a:prstGeom>
          <a:noFill/>
          <a:ln/>
        </p:spPr>
        <p:txBody>
          <a:bodyPr wrap="square" lIns="0" tIns="0" rIns="0" bIns="0" rtlCol="0" anchor="ctr"/>
          <a:lstStyle/>
          <a:p>
            <a:pPr indent="0" marL="0">
              <a:buNone/>
            </a:pPr>
            <a:r>
              <a:rPr lang="en-US" sz="1600" b="1" dirty="0">
                <a:solidFill>
                  <a:srgbClr val="141A21"/>
                </a:solidFill>
                <a:latin typeface="Arial" pitchFamily="34" charset="0"/>
                <a:ea typeface="Arial" pitchFamily="34" charset="-122"/>
                <a:cs typeface="Arial" pitchFamily="34" charset="-120"/>
              </a:rPr>
              <a:t>Ticks the box on a stub</a:t>
            </a:r>
            <a:endParaRPr lang="en-US" sz="1600" dirty="0"/>
          </a:p>
        </p:txBody>
      </p:sp>
      <p:sp>
        <p:nvSpPr>
          <p:cNvPr id="20" name="Shape 18"/>
          <p:cNvSpPr/>
          <p:nvPr/>
        </p:nvSpPr>
        <p:spPr>
          <a:xfrm>
            <a:off x="4480560" y="3282696"/>
            <a:ext cx="118872" cy="118872"/>
          </a:xfrm>
          <a:prstGeom prst="ellipse">
            <a:avLst/>
          </a:prstGeom>
          <a:solidFill>
            <a:srgbClr val="A8352A"/>
          </a:solidFill>
          <a:ln w="12700">
            <a:solidFill>
              <a:srgbClr val="A8352A"/>
            </a:solidFill>
            <a:prstDash val="solid"/>
          </a:ln>
        </p:spPr>
      </p:sp>
      <p:sp>
        <p:nvSpPr>
          <p:cNvPr id="21" name="Text 19"/>
          <p:cNvSpPr txBox="1"/>
          <p:nvPr/>
        </p:nvSpPr>
        <p:spPr>
          <a:xfrm>
            <a:off x="4754880" y="3108960"/>
            <a:ext cx="3822192" cy="457200"/>
          </a:xfrm>
          <a:prstGeom prst="rect">
            <a:avLst/>
          </a:prstGeom>
          <a:noFill/>
          <a:ln/>
        </p:spPr>
        <p:txBody>
          <a:bodyPr wrap="square" lIns="0" tIns="0" rIns="0" bIns="0" rtlCol="0" anchor="ctr"/>
          <a:lstStyle/>
          <a:p>
            <a:pPr indent="0" marL="0">
              <a:buNone/>
            </a:pPr>
            <a:r>
              <a:rPr lang="en-US" sz="1600" dirty="0">
                <a:solidFill>
                  <a:srgbClr val="A8352A"/>
                </a:solidFill>
                <a:latin typeface="Calibri" pitchFamily="34" charset="0"/>
                <a:ea typeface="Calibri" pitchFamily="34" charset="-122"/>
                <a:cs typeface="Calibri" pitchFamily="34" charset="-120"/>
              </a:rPr>
              <a:t>Not caught: needs human review</a:t>
            </a:r>
            <a:endParaRPr lang="en-US" sz="1600" dirty="0"/>
          </a:p>
        </p:txBody>
      </p:sp>
      <p:sp>
        <p:nvSpPr>
          <p:cNvPr id="22" name="Shape 20"/>
          <p:cNvSpPr/>
          <p:nvPr/>
        </p:nvSpPr>
        <p:spPr>
          <a:xfrm>
            <a:off x="566928" y="3566160"/>
            <a:ext cx="8010144" cy="0"/>
          </a:xfrm>
          <a:prstGeom prst="line">
            <a:avLst/>
          </a:prstGeom>
          <a:noFill/>
          <a:ln w="12700">
            <a:solidFill>
              <a:srgbClr val="D9DEE4"/>
            </a:solidFill>
            <a:prstDash val="solid"/>
          </a:ln>
        </p:spPr>
      </p:sp>
      <p:sp>
        <p:nvSpPr>
          <p:cNvPr id="23" name="Text 21"/>
          <p:cNvSpPr txBox="1"/>
          <p:nvPr/>
        </p:nvSpPr>
        <p:spPr>
          <a:xfrm>
            <a:off x="566928" y="3566160"/>
            <a:ext cx="3730752" cy="457200"/>
          </a:xfrm>
          <a:prstGeom prst="rect">
            <a:avLst/>
          </a:prstGeom>
          <a:noFill/>
          <a:ln/>
        </p:spPr>
        <p:txBody>
          <a:bodyPr wrap="square" lIns="0" tIns="0" rIns="0" bIns="0" rtlCol="0" anchor="ctr"/>
          <a:lstStyle/>
          <a:p>
            <a:pPr indent="0" marL="0">
              <a:buNone/>
            </a:pPr>
            <a:r>
              <a:rPr lang="en-US" sz="1600" b="1" dirty="0">
                <a:solidFill>
                  <a:srgbClr val="141A21"/>
                </a:solidFill>
                <a:latin typeface="Arial" pitchFamily="34" charset="0"/>
                <a:ea typeface="Arial" pitchFamily="34" charset="-122"/>
                <a:cs typeface="Arial" pitchFamily="34" charset="-120"/>
              </a:rPr>
              <a:t>Misses unwritten requirements</a:t>
            </a:r>
            <a:endParaRPr lang="en-US" sz="1600" dirty="0"/>
          </a:p>
        </p:txBody>
      </p:sp>
      <p:sp>
        <p:nvSpPr>
          <p:cNvPr id="24" name="Shape 22"/>
          <p:cNvSpPr/>
          <p:nvPr/>
        </p:nvSpPr>
        <p:spPr>
          <a:xfrm>
            <a:off x="4480560" y="3739896"/>
            <a:ext cx="118872" cy="118872"/>
          </a:xfrm>
          <a:prstGeom prst="ellipse">
            <a:avLst/>
          </a:prstGeom>
          <a:solidFill>
            <a:srgbClr val="A8352A"/>
          </a:solidFill>
          <a:ln w="12700">
            <a:solidFill>
              <a:srgbClr val="A8352A"/>
            </a:solidFill>
            <a:prstDash val="solid"/>
          </a:ln>
        </p:spPr>
      </p:sp>
      <p:sp>
        <p:nvSpPr>
          <p:cNvPr id="25" name="Text 23"/>
          <p:cNvSpPr txBox="1"/>
          <p:nvPr/>
        </p:nvSpPr>
        <p:spPr>
          <a:xfrm>
            <a:off x="4754880" y="3566160"/>
            <a:ext cx="3822192" cy="457200"/>
          </a:xfrm>
          <a:prstGeom prst="rect">
            <a:avLst/>
          </a:prstGeom>
          <a:noFill/>
          <a:ln/>
        </p:spPr>
        <p:txBody>
          <a:bodyPr wrap="square" lIns="0" tIns="0" rIns="0" bIns="0" rtlCol="0" anchor="ctr"/>
          <a:lstStyle/>
          <a:p>
            <a:pPr indent="0" marL="0">
              <a:buNone/>
            </a:pPr>
            <a:r>
              <a:rPr lang="en-US" sz="1600" dirty="0">
                <a:solidFill>
                  <a:srgbClr val="A8352A"/>
                </a:solidFill>
                <a:latin typeface="Calibri" pitchFamily="34" charset="0"/>
                <a:ea typeface="Calibri" pitchFamily="34" charset="-122"/>
                <a:cs typeface="Calibri" pitchFamily="34" charset="-120"/>
              </a:rPr>
              <a:t>Not caught: needs better specs</a:t>
            </a:r>
            <a:endParaRPr lang="en-US" sz="1600" dirty="0"/>
          </a:p>
        </p:txBody>
      </p:sp>
      <p:sp>
        <p:nvSpPr>
          <p:cNvPr id="26" name="Shape 24"/>
          <p:cNvSpPr/>
          <p:nvPr/>
        </p:nvSpPr>
        <p:spPr>
          <a:xfrm>
            <a:off x="566928" y="4023360"/>
            <a:ext cx="8010144" cy="0"/>
          </a:xfrm>
          <a:prstGeom prst="line">
            <a:avLst/>
          </a:prstGeom>
          <a:noFill/>
          <a:ln w="12700">
            <a:solidFill>
              <a:srgbClr val="D9DEE4"/>
            </a:solidFill>
            <a:prstDash val="solid"/>
          </a:ln>
        </p:spPr>
      </p:sp>
      <p:sp>
        <p:nvSpPr>
          <p:cNvPr id="27" name="Text 25"/>
          <p:cNvSpPr txBox="1"/>
          <p:nvPr/>
        </p:nvSpPr>
        <p:spPr>
          <a:xfrm>
            <a:off x="566928" y="4023360"/>
            <a:ext cx="3730752" cy="457200"/>
          </a:xfrm>
          <a:prstGeom prst="rect">
            <a:avLst/>
          </a:prstGeom>
          <a:noFill/>
          <a:ln/>
        </p:spPr>
        <p:txBody>
          <a:bodyPr wrap="square" lIns="0" tIns="0" rIns="0" bIns="0" rtlCol="0" anchor="ctr"/>
          <a:lstStyle/>
          <a:p>
            <a:pPr indent="0" marL="0">
              <a:buNone/>
            </a:pPr>
            <a:r>
              <a:rPr lang="en-US" sz="1600" b="1" dirty="0">
                <a:solidFill>
                  <a:srgbClr val="141A21"/>
                </a:solidFill>
                <a:latin typeface="Arial" pitchFamily="34" charset="0"/>
                <a:ea typeface="Arial" pitchFamily="34" charset="-122"/>
                <a:cs typeface="Arial" pitchFamily="34" charset="-120"/>
              </a:rPr>
              <a:t>Reaches outside the workspace</a:t>
            </a:r>
            <a:endParaRPr lang="en-US" sz="1600" dirty="0"/>
          </a:p>
        </p:txBody>
      </p:sp>
      <p:sp>
        <p:nvSpPr>
          <p:cNvPr id="28" name="Shape 26"/>
          <p:cNvSpPr/>
          <p:nvPr/>
        </p:nvSpPr>
        <p:spPr>
          <a:xfrm>
            <a:off x="4480560" y="4197096"/>
            <a:ext cx="118872" cy="118872"/>
          </a:xfrm>
          <a:prstGeom prst="ellipse">
            <a:avLst/>
          </a:prstGeom>
          <a:solidFill>
            <a:srgbClr val="A8352A"/>
          </a:solidFill>
          <a:ln w="12700">
            <a:solidFill>
              <a:srgbClr val="A8352A"/>
            </a:solidFill>
            <a:prstDash val="solid"/>
          </a:ln>
        </p:spPr>
      </p:sp>
      <p:sp>
        <p:nvSpPr>
          <p:cNvPr id="29" name="Text 27"/>
          <p:cNvSpPr txBox="1"/>
          <p:nvPr/>
        </p:nvSpPr>
        <p:spPr>
          <a:xfrm>
            <a:off x="4754880" y="4023360"/>
            <a:ext cx="3822192" cy="457200"/>
          </a:xfrm>
          <a:prstGeom prst="rect">
            <a:avLst/>
          </a:prstGeom>
          <a:noFill/>
          <a:ln/>
        </p:spPr>
        <p:txBody>
          <a:bodyPr wrap="square" lIns="0" tIns="0" rIns="0" bIns="0" rtlCol="0" anchor="ctr"/>
          <a:lstStyle/>
          <a:p>
            <a:pPr indent="0" marL="0">
              <a:buNone/>
            </a:pPr>
            <a:r>
              <a:rPr lang="en-US" sz="1600" dirty="0">
                <a:solidFill>
                  <a:srgbClr val="A8352A"/>
                </a:solidFill>
                <a:latin typeface="Calibri" pitchFamily="34" charset="0"/>
                <a:ea typeface="Calibri" pitchFamily="34" charset="-122"/>
                <a:cs typeface="Calibri" pitchFamily="34" charset="-120"/>
              </a:rPr>
              <a:t>Not caught: needs a container or VM</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8"/>
        </a:solidFill>
      </p:bgPr>
    </p:bg>
    <p:spTree>
      <p:nvGrpSpPr>
        <p:cNvPr id="1" name=""/>
        <p:cNvGrpSpPr/>
        <p:nvPr/>
      </p:nvGrpSpPr>
      <p:grpSpPr>
        <a:xfrm>
          <a:off x="0" y="0"/>
          <a:ext cx="0" cy="0"/>
          <a:chOff x="0" y="0"/>
          <a:chExt cx="0" cy="0"/>
        </a:xfrm>
      </p:grpSpPr>
      <p:sp>
        <p:nvSpPr>
          <p:cNvPr id="2" name="Text 0"/>
          <p:cNvSpPr txBox="1"/>
          <p:nvPr/>
        </p:nvSpPr>
        <p:spPr>
          <a:xfrm>
            <a:off x="566928" y="256032"/>
            <a:ext cx="1828800" cy="256032"/>
          </a:xfrm>
          <a:prstGeom prst="rect">
            <a:avLst/>
          </a:prstGeom>
          <a:noFill/>
          <a:ln/>
        </p:spPr>
        <p:txBody>
          <a:bodyPr wrap="square" lIns="0" tIns="0" rIns="0" bIns="0" rtlCol="0" anchor="ctr"/>
          <a:lstStyle/>
          <a:p>
            <a:pPr indent="0" marL="0">
              <a:buNone/>
            </a:pPr>
            <a:r>
              <a:rPr lang="en-US" sz="1100" spc="100" kern="0" dirty="0">
                <a:solidFill>
                  <a:srgbClr val="4E5A66"/>
                </a:solidFill>
                <a:latin typeface="Courier New" pitchFamily="34" charset="0"/>
                <a:ea typeface="Courier New" pitchFamily="34" charset="-122"/>
                <a:cs typeface="Courier New" pitchFamily="34" charset="-120"/>
              </a:rPr>
              <a:t>07 / 10</a:t>
            </a:r>
            <a:endParaRPr lang="en-US" sz="1100" dirty="0"/>
          </a:p>
        </p:txBody>
      </p:sp>
      <p:sp>
        <p:nvSpPr>
          <p:cNvPr id="3" name="Text 1"/>
          <p:cNvSpPr txBox="1"/>
          <p:nvPr/>
        </p:nvSpPr>
        <p:spPr>
          <a:xfrm>
            <a:off x="566928" y="640080"/>
            <a:ext cx="8010144" cy="676656"/>
          </a:xfrm>
          <a:prstGeom prst="rect">
            <a:avLst/>
          </a:prstGeom>
          <a:noFill/>
          <a:ln/>
        </p:spPr>
        <p:txBody>
          <a:bodyPr wrap="square" lIns="0" tIns="0" rIns="0" bIns="0" rtlCol="0" anchor="ctr"/>
          <a:lstStyle/>
          <a:p>
            <a:pPr indent="0" marL="0">
              <a:buNone/>
            </a:pPr>
            <a:r>
              <a:rPr lang="en-US" sz="3200" b="1" dirty="0">
                <a:solidFill>
                  <a:srgbClr val="141A21"/>
                </a:solidFill>
                <a:latin typeface="Arial" pitchFamily="34" charset="0"/>
                <a:ea typeface="Arial" pitchFamily="34" charset="-122"/>
                <a:cs typeface="Arial" pitchFamily="34" charset="-120"/>
              </a:rPr>
              <a:t>You steer the loop, not the code</a:t>
            </a:r>
            <a:endParaRPr lang="en-US" sz="3200" dirty="0"/>
          </a:p>
        </p:txBody>
      </p:sp>
      <p:sp>
        <p:nvSpPr>
          <p:cNvPr id="4" name="Shape 2"/>
          <p:cNvSpPr/>
          <p:nvPr/>
        </p:nvSpPr>
        <p:spPr>
          <a:xfrm>
            <a:off x="566928" y="1764792"/>
            <a:ext cx="118872" cy="118872"/>
          </a:xfrm>
          <a:prstGeom prst="ellipse">
            <a:avLst/>
          </a:prstGeom>
          <a:solidFill>
            <a:srgbClr val="13704F"/>
          </a:solidFill>
          <a:ln w="12700">
            <a:solidFill>
              <a:srgbClr val="13704F"/>
            </a:solidFill>
            <a:prstDash val="solid"/>
          </a:ln>
        </p:spPr>
      </p:sp>
      <p:sp>
        <p:nvSpPr>
          <p:cNvPr id="5" name="Text 3"/>
          <p:cNvSpPr txBox="1"/>
          <p:nvPr/>
        </p:nvSpPr>
        <p:spPr>
          <a:xfrm>
            <a:off x="841248" y="1645920"/>
            <a:ext cx="3566160" cy="329184"/>
          </a:xfrm>
          <a:prstGeom prst="rect">
            <a:avLst/>
          </a:prstGeom>
          <a:noFill/>
          <a:ln/>
        </p:spPr>
        <p:txBody>
          <a:bodyPr wrap="square" lIns="0" tIns="0" rIns="0" bIns="0" rtlCol="0" anchor="ctr"/>
          <a:lstStyle/>
          <a:p>
            <a:pPr indent="0" marL="0">
              <a:buNone/>
            </a:pPr>
            <a:r>
              <a:rPr lang="en-US" sz="1900" b="1" dirty="0">
                <a:solidFill>
                  <a:srgbClr val="141A21"/>
                </a:solidFill>
                <a:latin typeface="Arial" pitchFamily="34" charset="0"/>
                <a:ea typeface="Arial" pitchFamily="34" charset="-122"/>
                <a:cs typeface="Arial" pitchFamily="34" charset="-120"/>
              </a:rPr>
              <a:t>Reorder the backlog</a:t>
            </a:r>
            <a:endParaRPr lang="en-US" sz="1900" dirty="0"/>
          </a:p>
        </p:txBody>
      </p:sp>
      <p:sp>
        <p:nvSpPr>
          <p:cNvPr id="6" name="Text 4"/>
          <p:cNvSpPr txBox="1"/>
          <p:nvPr/>
        </p:nvSpPr>
        <p:spPr>
          <a:xfrm>
            <a:off x="841248" y="1993392"/>
            <a:ext cx="3566160" cy="566928"/>
          </a:xfrm>
          <a:prstGeom prst="rect">
            <a:avLst/>
          </a:prstGeom>
          <a:noFill/>
          <a:ln/>
        </p:spPr>
        <p:txBody>
          <a:bodyPr wrap="square" lIns="0" tIns="0" rIns="0" bIns="0" rtlCol="0" anchor="t"/>
          <a:lstStyle/>
          <a:p>
            <a:pPr indent="0" marL="0">
              <a:lnSpc>
                <a:spcPct val="105000"/>
              </a:lnSpc>
              <a:buNone/>
            </a:pPr>
            <a:r>
              <a:rPr lang="en-US" sz="1600" dirty="0">
                <a:solidFill>
                  <a:srgbClr val="4E5A66"/>
                </a:solidFill>
                <a:latin typeface="Calibri" pitchFamily="34" charset="0"/>
                <a:ea typeface="Calibri" pitchFamily="34" charset="-122"/>
                <a:cs typeface="Calibri" pitchFamily="34" charset="-120"/>
              </a:rPr>
              <a:t>The cheapest way to change what it does next.</a:t>
            </a:r>
            <a:endParaRPr lang="en-US" sz="1600" dirty="0"/>
          </a:p>
        </p:txBody>
      </p:sp>
      <p:sp>
        <p:nvSpPr>
          <p:cNvPr id="7" name="Shape 5"/>
          <p:cNvSpPr/>
          <p:nvPr/>
        </p:nvSpPr>
        <p:spPr>
          <a:xfrm>
            <a:off x="4736592" y="1764792"/>
            <a:ext cx="118872" cy="118872"/>
          </a:xfrm>
          <a:prstGeom prst="ellipse">
            <a:avLst/>
          </a:prstGeom>
          <a:solidFill>
            <a:srgbClr val="13704F"/>
          </a:solidFill>
          <a:ln w="12700">
            <a:solidFill>
              <a:srgbClr val="13704F"/>
            </a:solidFill>
            <a:prstDash val="solid"/>
          </a:ln>
        </p:spPr>
      </p:sp>
      <p:sp>
        <p:nvSpPr>
          <p:cNvPr id="8" name="Text 6"/>
          <p:cNvSpPr txBox="1"/>
          <p:nvPr/>
        </p:nvSpPr>
        <p:spPr>
          <a:xfrm>
            <a:off x="5010912" y="1645920"/>
            <a:ext cx="3566160" cy="329184"/>
          </a:xfrm>
          <a:prstGeom prst="rect">
            <a:avLst/>
          </a:prstGeom>
          <a:noFill/>
          <a:ln/>
        </p:spPr>
        <p:txBody>
          <a:bodyPr wrap="square" lIns="0" tIns="0" rIns="0" bIns="0" rtlCol="0" anchor="ctr"/>
          <a:lstStyle/>
          <a:p>
            <a:pPr indent="0" marL="0">
              <a:buNone/>
            </a:pPr>
            <a:r>
              <a:rPr lang="en-US" sz="1900" b="1" dirty="0">
                <a:solidFill>
                  <a:srgbClr val="141A21"/>
                </a:solidFill>
                <a:latin typeface="Arial" pitchFamily="34" charset="0"/>
                <a:ea typeface="Arial" pitchFamily="34" charset="-122"/>
                <a:cs typeface="Arial" pitchFamily="34" charset="-120"/>
              </a:rPr>
              <a:t>Add a sign</a:t>
            </a:r>
            <a:endParaRPr lang="en-US" sz="1900" dirty="0"/>
          </a:p>
        </p:txBody>
      </p:sp>
      <p:sp>
        <p:nvSpPr>
          <p:cNvPr id="9" name="Text 7"/>
          <p:cNvSpPr txBox="1"/>
          <p:nvPr/>
        </p:nvSpPr>
        <p:spPr>
          <a:xfrm>
            <a:off x="5010912" y="1993392"/>
            <a:ext cx="3566160" cy="566928"/>
          </a:xfrm>
          <a:prstGeom prst="rect">
            <a:avLst/>
          </a:prstGeom>
          <a:noFill/>
          <a:ln/>
        </p:spPr>
        <p:txBody>
          <a:bodyPr wrap="square" lIns="0" tIns="0" rIns="0" bIns="0" rtlCol="0" anchor="t"/>
          <a:lstStyle/>
          <a:p>
            <a:pPr indent="0" marL="0">
              <a:lnSpc>
                <a:spcPct val="105000"/>
              </a:lnSpc>
              <a:buNone/>
            </a:pPr>
            <a:r>
              <a:rPr lang="en-US" sz="1600" dirty="0">
                <a:solidFill>
                  <a:srgbClr val="4E5A66"/>
                </a:solidFill>
                <a:latin typeface="Calibri" pitchFamily="34" charset="0"/>
                <a:ea typeface="Calibri" pitchFamily="34" charset="-122"/>
                <a:cs typeface="Calibri" pitchFamily="34" charset="-120"/>
              </a:rPr>
              <a:t>Same mistake twice? Add a line to the prompt, not a hand fix.</a:t>
            </a:r>
            <a:endParaRPr lang="en-US" sz="1600" dirty="0"/>
          </a:p>
        </p:txBody>
      </p:sp>
      <p:sp>
        <p:nvSpPr>
          <p:cNvPr id="10" name="Shape 8"/>
          <p:cNvSpPr/>
          <p:nvPr/>
        </p:nvSpPr>
        <p:spPr>
          <a:xfrm>
            <a:off x="566928" y="2953512"/>
            <a:ext cx="118872" cy="118872"/>
          </a:xfrm>
          <a:prstGeom prst="ellipse">
            <a:avLst/>
          </a:prstGeom>
          <a:solidFill>
            <a:srgbClr val="13704F"/>
          </a:solidFill>
          <a:ln w="12700">
            <a:solidFill>
              <a:srgbClr val="13704F"/>
            </a:solidFill>
            <a:prstDash val="solid"/>
          </a:ln>
        </p:spPr>
      </p:sp>
      <p:sp>
        <p:nvSpPr>
          <p:cNvPr id="11" name="Text 9"/>
          <p:cNvSpPr txBox="1"/>
          <p:nvPr/>
        </p:nvSpPr>
        <p:spPr>
          <a:xfrm>
            <a:off x="841248" y="2834640"/>
            <a:ext cx="3566160" cy="329184"/>
          </a:xfrm>
          <a:prstGeom prst="rect">
            <a:avLst/>
          </a:prstGeom>
          <a:noFill/>
          <a:ln/>
        </p:spPr>
        <p:txBody>
          <a:bodyPr wrap="square" lIns="0" tIns="0" rIns="0" bIns="0" rtlCol="0" anchor="ctr"/>
          <a:lstStyle/>
          <a:p>
            <a:pPr indent="0" marL="0">
              <a:buNone/>
            </a:pPr>
            <a:r>
              <a:rPr lang="en-US" sz="1900" b="1" dirty="0">
                <a:solidFill>
                  <a:srgbClr val="141A21"/>
                </a:solidFill>
                <a:latin typeface="Arial" pitchFamily="34" charset="0"/>
                <a:ea typeface="Arial" pitchFamily="34" charset="-122"/>
                <a:cs typeface="Arial" pitchFamily="34" charset="-120"/>
              </a:rPr>
              <a:t>Tighten the oracle</a:t>
            </a:r>
            <a:endParaRPr lang="en-US" sz="1900" dirty="0"/>
          </a:p>
        </p:txBody>
      </p:sp>
      <p:sp>
        <p:nvSpPr>
          <p:cNvPr id="12" name="Text 10"/>
          <p:cNvSpPr txBox="1"/>
          <p:nvPr/>
        </p:nvSpPr>
        <p:spPr>
          <a:xfrm>
            <a:off x="841248" y="3182112"/>
            <a:ext cx="3566160" cy="566928"/>
          </a:xfrm>
          <a:prstGeom prst="rect">
            <a:avLst/>
          </a:prstGeom>
          <a:noFill/>
          <a:ln/>
        </p:spPr>
        <p:txBody>
          <a:bodyPr wrap="square" lIns="0" tIns="0" rIns="0" bIns="0" rtlCol="0" anchor="t"/>
          <a:lstStyle/>
          <a:p>
            <a:pPr indent="0" marL="0">
              <a:lnSpc>
                <a:spcPct val="105000"/>
              </a:lnSpc>
              <a:buNone/>
            </a:pPr>
            <a:r>
              <a:rPr lang="en-US" sz="1600" dirty="0">
                <a:solidFill>
                  <a:srgbClr val="4E5A66"/>
                </a:solidFill>
                <a:latin typeface="Calibri" pitchFamily="34" charset="0"/>
                <a:ea typeface="Calibri" pitchFamily="34" charset="-122"/>
                <a:cs typeface="Calibri" pitchFamily="34" charset="-120"/>
              </a:rPr>
              <a:t>Green but wrong? Add the test that would have caught it.</a:t>
            </a:r>
            <a:endParaRPr lang="en-US" sz="1600" dirty="0"/>
          </a:p>
        </p:txBody>
      </p:sp>
      <p:sp>
        <p:nvSpPr>
          <p:cNvPr id="13" name="Shape 11"/>
          <p:cNvSpPr/>
          <p:nvPr/>
        </p:nvSpPr>
        <p:spPr>
          <a:xfrm>
            <a:off x="4736592" y="2953512"/>
            <a:ext cx="118872" cy="118872"/>
          </a:xfrm>
          <a:prstGeom prst="ellipse">
            <a:avLst/>
          </a:prstGeom>
          <a:solidFill>
            <a:srgbClr val="13704F"/>
          </a:solidFill>
          <a:ln w="12700">
            <a:solidFill>
              <a:srgbClr val="13704F"/>
            </a:solidFill>
            <a:prstDash val="solid"/>
          </a:ln>
        </p:spPr>
      </p:sp>
      <p:sp>
        <p:nvSpPr>
          <p:cNvPr id="14" name="Text 12"/>
          <p:cNvSpPr txBox="1"/>
          <p:nvPr/>
        </p:nvSpPr>
        <p:spPr>
          <a:xfrm>
            <a:off x="5010912" y="2834640"/>
            <a:ext cx="3566160" cy="329184"/>
          </a:xfrm>
          <a:prstGeom prst="rect">
            <a:avLst/>
          </a:prstGeom>
          <a:noFill/>
          <a:ln/>
        </p:spPr>
        <p:txBody>
          <a:bodyPr wrap="square" lIns="0" tIns="0" rIns="0" bIns="0" rtlCol="0" anchor="ctr"/>
          <a:lstStyle/>
          <a:p>
            <a:pPr indent="0" marL="0">
              <a:buNone/>
            </a:pPr>
            <a:r>
              <a:rPr lang="en-US" sz="1900" b="1" dirty="0">
                <a:solidFill>
                  <a:srgbClr val="141A21"/>
                </a:solidFill>
                <a:latin typeface="Arial" pitchFamily="34" charset="0"/>
                <a:ea typeface="Arial" pitchFamily="34" charset="-122"/>
                <a:cs typeface="Arial" pitchFamily="34" charset="-120"/>
              </a:rPr>
              <a:t>Read the checkpoints</a:t>
            </a:r>
            <a:endParaRPr lang="en-US" sz="1900" dirty="0"/>
          </a:p>
        </p:txBody>
      </p:sp>
      <p:sp>
        <p:nvSpPr>
          <p:cNvPr id="15" name="Text 13"/>
          <p:cNvSpPr txBox="1"/>
          <p:nvPr/>
        </p:nvSpPr>
        <p:spPr>
          <a:xfrm>
            <a:off x="5010912" y="3182112"/>
            <a:ext cx="3566160" cy="566928"/>
          </a:xfrm>
          <a:prstGeom prst="rect">
            <a:avLst/>
          </a:prstGeom>
          <a:noFill/>
          <a:ln/>
        </p:spPr>
        <p:txBody>
          <a:bodyPr wrap="square" lIns="0" tIns="0" rIns="0" bIns="0" rtlCol="0" anchor="t"/>
          <a:lstStyle/>
          <a:p>
            <a:pPr indent="0" marL="0">
              <a:lnSpc>
                <a:spcPct val="105000"/>
              </a:lnSpc>
              <a:buNone/>
            </a:pPr>
            <a:r>
              <a:rPr lang="en-US" sz="1600" dirty="0">
                <a:solidFill>
                  <a:srgbClr val="4E5A66"/>
                </a:solidFill>
                <a:latin typeface="Calibri" pitchFamily="34" charset="0"/>
                <a:ea typeface="Calibri" pitchFamily="34" charset="-122"/>
                <a:cs typeface="Calibri" pitchFamily="34" charset="-120"/>
              </a:rPr>
              <a:t>The Git log is your review queue.</a:t>
            </a:r>
            <a:endParaRPr lang="en-US" sz="1600" dirty="0"/>
          </a:p>
        </p:txBody>
      </p:sp>
      <p:sp>
        <p:nvSpPr>
          <p:cNvPr id="16" name="Text 14"/>
          <p:cNvSpPr txBox="1"/>
          <p:nvPr/>
        </p:nvSpPr>
        <p:spPr>
          <a:xfrm>
            <a:off x="566928" y="4224528"/>
            <a:ext cx="8010144" cy="365760"/>
          </a:xfrm>
          <a:prstGeom prst="rect">
            <a:avLst/>
          </a:prstGeom>
          <a:noFill/>
          <a:ln/>
        </p:spPr>
        <p:txBody>
          <a:bodyPr wrap="square" lIns="0" tIns="0" rIns="0" bIns="0" rtlCol="0" anchor="ctr"/>
          <a:lstStyle/>
          <a:p>
            <a:pPr indent="0" marL="0">
              <a:buNone/>
            </a:pPr>
            <a:r>
              <a:rPr lang="en-US" sz="2000" b="1" dirty="0">
                <a:solidFill>
                  <a:srgbClr val="141A21"/>
                </a:solidFill>
                <a:latin typeface="Arial" pitchFamily="34" charset="0"/>
                <a:ea typeface="Arial" pitchFamily="34" charset="-122"/>
                <a:cs typeface="Arial" pitchFamily="34" charset="-120"/>
              </a:rPr>
              <a:t>A human on the loop, not in it.</a:t>
            </a:r>
            <a:endParaRPr lang="en-US"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8"/>
        </a:solidFill>
      </p:bgPr>
    </p:bg>
    <p:spTree>
      <p:nvGrpSpPr>
        <p:cNvPr id="1" name=""/>
        <p:cNvGrpSpPr/>
        <p:nvPr/>
      </p:nvGrpSpPr>
      <p:grpSpPr>
        <a:xfrm>
          <a:off x="0" y="0"/>
          <a:ext cx="0" cy="0"/>
          <a:chOff x="0" y="0"/>
          <a:chExt cx="0" cy="0"/>
        </a:xfrm>
      </p:grpSpPr>
      <p:sp>
        <p:nvSpPr>
          <p:cNvPr id="2" name="Text 0"/>
          <p:cNvSpPr txBox="1"/>
          <p:nvPr/>
        </p:nvSpPr>
        <p:spPr>
          <a:xfrm>
            <a:off x="566928" y="256032"/>
            <a:ext cx="1828800" cy="256032"/>
          </a:xfrm>
          <a:prstGeom prst="rect">
            <a:avLst/>
          </a:prstGeom>
          <a:noFill/>
          <a:ln/>
        </p:spPr>
        <p:txBody>
          <a:bodyPr wrap="square" lIns="0" tIns="0" rIns="0" bIns="0" rtlCol="0" anchor="ctr"/>
          <a:lstStyle/>
          <a:p>
            <a:pPr indent="0" marL="0">
              <a:buNone/>
            </a:pPr>
            <a:r>
              <a:rPr lang="en-US" sz="1100" spc="100" kern="0" dirty="0">
                <a:solidFill>
                  <a:srgbClr val="4E5A66"/>
                </a:solidFill>
                <a:latin typeface="Courier New" pitchFamily="34" charset="0"/>
                <a:ea typeface="Courier New" pitchFamily="34" charset="-122"/>
                <a:cs typeface="Courier New" pitchFamily="34" charset="-120"/>
              </a:rPr>
              <a:t>08 / 10</a:t>
            </a:r>
            <a:endParaRPr lang="en-US" sz="1100" dirty="0"/>
          </a:p>
        </p:txBody>
      </p:sp>
      <p:sp>
        <p:nvSpPr>
          <p:cNvPr id="3" name="Text 1"/>
          <p:cNvSpPr txBox="1"/>
          <p:nvPr/>
        </p:nvSpPr>
        <p:spPr>
          <a:xfrm>
            <a:off x="566928" y="640080"/>
            <a:ext cx="8010144" cy="676656"/>
          </a:xfrm>
          <a:prstGeom prst="rect">
            <a:avLst/>
          </a:prstGeom>
          <a:noFill/>
          <a:ln/>
        </p:spPr>
        <p:txBody>
          <a:bodyPr wrap="square" lIns="0" tIns="0" rIns="0" bIns="0" rtlCol="0" anchor="ctr"/>
          <a:lstStyle/>
          <a:p>
            <a:pPr indent="0" marL="0">
              <a:buNone/>
            </a:pPr>
            <a:r>
              <a:rPr lang="en-US" sz="3200" b="1" dirty="0">
                <a:solidFill>
                  <a:srgbClr val="141A21"/>
                </a:solidFill>
                <a:latin typeface="Arial" pitchFamily="34" charset="0"/>
                <a:ea typeface="Arial" pitchFamily="34" charset="-122"/>
                <a:cs typeface="Arial" pitchFamily="34" charset="-120"/>
              </a:rPr>
              <a:t>When to use it</a:t>
            </a:r>
            <a:endParaRPr lang="en-US" sz="3200" dirty="0"/>
          </a:p>
        </p:txBody>
      </p:sp>
      <p:sp>
        <p:nvSpPr>
          <p:cNvPr id="4" name="Text 2"/>
          <p:cNvSpPr txBox="1"/>
          <p:nvPr/>
        </p:nvSpPr>
        <p:spPr>
          <a:xfrm>
            <a:off x="566928" y="1444752"/>
            <a:ext cx="3840480" cy="274320"/>
          </a:xfrm>
          <a:prstGeom prst="rect">
            <a:avLst/>
          </a:prstGeom>
          <a:noFill/>
          <a:ln/>
        </p:spPr>
        <p:txBody>
          <a:bodyPr wrap="square" lIns="0" tIns="0" rIns="0" bIns="0" rtlCol="0" anchor="ctr"/>
          <a:lstStyle/>
          <a:p>
            <a:pPr indent="0" marL="0">
              <a:buNone/>
            </a:pPr>
            <a:r>
              <a:rPr lang="en-US" sz="1200" spc="140" kern="0" dirty="0">
                <a:solidFill>
                  <a:srgbClr val="13704F"/>
                </a:solidFill>
                <a:latin typeface="Courier New" pitchFamily="34" charset="0"/>
                <a:ea typeface="Courier New" pitchFamily="34" charset="-122"/>
                <a:cs typeface="Courier New" pitchFamily="34" charset="-120"/>
              </a:rPr>
              <a:t>GOOD CANDIDATES</a:t>
            </a:r>
            <a:endParaRPr lang="en-US" sz="1200" dirty="0"/>
          </a:p>
        </p:txBody>
      </p:sp>
      <p:sp>
        <p:nvSpPr>
          <p:cNvPr id="5" name="Shape 3"/>
          <p:cNvSpPr/>
          <p:nvPr/>
        </p:nvSpPr>
        <p:spPr>
          <a:xfrm>
            <a:off x="566928" y="1965960"/>
            <a:ext cx="118872" cy="118872"/>
          </a:xfrm>
          <a:prstGeom prst="ellipse">
            <a:avLst/>
          </a:prstGeom>
          <a:solidFill>
            <a:srgbClr val="13704F"/>
          </a:solidFill>
          <a:ln w="12700">
            <a:solidFill>
              <a:srgbClr val="13704F"/>
            </a:solidFill>
            <a:prstDash val="solid"/>
          </a:ln>
        </p:spPr>
      </p:sp>
      <p:sp>
        <p:nvSpPr>
          <p:cNvPr id="6" name="Text 4"/>
          <p:cNvSpPr txBox="1"/>
          <p:nvPr/>
        </p:nvSpPr>
        <p:spPr>
          <a:xfrm>
            <a:off x="841248" y="1847088"/>
            <a:ext cx="3566160" cy="329184"/>
          </a:xfrm>
          <a:prstGeom prst="rect">
            <a:avLst/>
          </a:prstGeom>
          <a:noFill/>
          <a:ln/>
        </p:spPr>
        <p:txBody>
          <a:bodyPr wrap="square" lIns="0" tIns="0" rIns="0" bIns="0" rtlCol="0" anchor="ctr"/>
          <a:lstStyle/>
          <a:p>
            <a:pPr indent="0" marL="0">
              <a:buNone/>
            </a:pPr>
            <a:r>
              <a:rPr lang="en-US" sz="1900" b="1" dirty="0">
                <a:solidFill>
                  <a:srgbClr val="141A21"/>
                </a:solidFill>
                <a:latin typeface="Arial" pitchFamily="34" charset="0"/>
                <a:ea typeface="Arial" pitchFamily="34" charset="-122"/>
                <a:cs typeface="Arial" pitchFamily="34" charset="-120"/>
              </a:rPr>
              <a:t>Splits into testable steps</a:t>
            </a:r>
            <a:endParaRPr lang="en-US" sz="1900" dirty="0"/>
          </a:p>
        </p:txBody>
      </p:sp>
      <p:sp>
        <p:nvSpPr>
          <p:cNvPr id="7" name="Text 5"/>
          <p:cNvSpPr txBox="1"/>
          <p:nvPr/>
        </p:nvSpPr>
        <p:spPr>
          <a:xfrm>
            <a:off x="841248" y="2194560"/>
            <a:ext cx="3566160" cy="310896"/>
          </a:xfrm>
          <a:prstGeom prst="rect">
            <a:avLst/>
          </a:prstGeom>
          <a:noFill/>
          <a:ln/>
        </p:spPr>
        <p:txBody>
          <a:bodyPr wrap="square" lIns="0" tIns="0" rIns="0" bIns="0" rtlCol="0" anchor="t"/>
          <a:lstStyle/>
          <a:p>
            <a:pPr indent="0" marL="0">
              <a:lnSpc>
                <a:spcPct val="105000"/>
              </a:lnSpc>
              <a:buNone/>
            </a:pPr>
            <a:r>
              <a:rPr lang="en-US" sz="1600" dirty="0">
                <a:solidFill>
                  <a:srgbClr val="4E5A66"/>
                </a:solidFill>
                <a:latin typeface="Calibri" pitchFamily="34" charset="0"/>
                <a:ea typeface="Calibri" pitchFamily="34" charset="-122"/>
                <a:cs typeface="Calibri" pitchFamily="34" charset="-120"/>
              </a:rPr>
              <a:t>Each step is checked before the next.</a:t>
            </a:r>
            <a:endParaRPr lang="en-US" sz="1600" dirty="0"/>
          </a:p>
        </p:txBody>
      </p:sp>
      <p:sp>
        <p:nvSpPr>
          <p:cNvPr id="8" name="Shape 6"/>
          <p:cNvSpPr/>
          <p:nvPr/>
        </p:nvSpPr>
        <p:spPr>
          <a:xfrm>
            <a:off x="566928" y="2862072"/>
            <a:ext cx="118872" cy="118872"/>
          </a:xfrm>
          <a:prstGeom prst="ellipse">
            <a:avLst/>
          </a:prstGeom>
          <a:solidFill>
            <a:srgbClr val="13704F"/>
          </a:solidFill>
          <a:ln w="12700">
            <a:solidFill>
              <a:srgbClr val="13704F"/>
            </a:solidFill>
            <a:prstDash val="solid"/>
          </a:ln>
        </p:spPr>
      </p:sp>
      <p:sp>
        <p:nvSpPr>
          <p:cNvPr id="9" name="Text 7"/>
          <p:cNvSpPr txBox="1"/>
          <p:nvPr/>
        </p:nvSpPr>
        <p:spPr>
          <a:xfrm>
            <a:off x="841248" y="2743200"/>
            <a:ext cx="3566160" cy="329184"/>
          </a:xfrm>
          <a:prstGeom prst="rect">
            <a:avLst/>
          </a:prstGeom>
          <a:noFill/>
          <a:ln/>
        </p:spPr>
        <p:txBody>
          <a:bodyPr wrap="square" lIns="0" tIns="0" rIns="0" bIns="0" rtlCol="0" anchor="ctr"/>
          <a:lstStyle/>
          <a:p>
            <a:pPr indent="0" marL="0">
              <a:buNone/>
            </a:pPr>
            <a:r>
              <a:rPr lang="en-US" sz="1900" b="1" dirty="0">
                <a:solidFill>
                  <a:srgbClr val="141A21"/>
                </a:solidFill>
                <a:latin typeface="Arial" pitchFamily="34" charset="0"/>
                <a:ea typeface="Arial" pitchFamily="34" charset="-122"/>
                <a:cs typeface="Arial" pitchFamily="34" charset="-120"/>
              </a:rPr>
              <a:t>API migrations, codemods</a:t>
            </a:r>
            <a:endParaRPr lang="en-US" sz="1900" dirty="0"/>
          </a:p>
        </p:txBody>
      </p:sp>
      <p:sp>
        <p:nvSpPr>
          <p:cNvPr id="10" name="Text 8"/>
          <p:cNvSpPr txBox="1"/>
          <p:nvPr/>
        </p:nvSpPr>
        <p:spPr>
          <a:xfrm>
            <a:off x="841248" y="3090672"/>
            <a:ext cx="3566160" cy="310896"/>
          </a:xfrm>
          <a:prstGeom prst="rect">
            <a:avLst/>
          </a:prstGeom>
          <a:noFill/>
          <a:ln/>
        </p:spPr>
        <p:txBody>
          <a:bodyPr wrap="square" lIns="0" tIns="0" rIns="0" bIns="0" rtlCol="0" anchor="t"/>
          <a:lstStyle/>
          <a:p>
            <a:pPr indent="0" marL="0">
              <a:lnSpc>
                <a:spcPct val="105000"/>
              </a:lnSpc>
              <a:buNone/>
            </a:pPr>
            <a:r>
              <a:rPr lang="en-US" sz="1600" dirty="0">
                <a:solidFill>
                  <a:srgbClr val="4E5A66"/>
                </a:solidFill>
                <a:latin typeface="Calibri" pitchFamily="34" charset="0"/>
                <a:ea typeface="Calibri" pitchFamily="34" charset="-122"/>
                <a:cs typeface="Calibri" pitchFamily="34" charset="-120"/>
              </a:rPr>
              <a:t>Work you would otherwise do by hand.</a:t>
            </a:r>
            <a:endParaRPr lang="en-US" sz="1600" dirty="0"/>
          </a:p>
        </p:txBody>
      </p:sp>
      <p:sp>
        <p:nvSpPr>
          <p:cNvPr id="11" name="Shape 9"/>
          <p:cNvSpPr/>
          <p:nvPr/>
        </p:nvSpPr>
        <p:spPr>
          <a:xfrm>
            <a:off x="566928" y="3758184"/>
            <a:ext cx="118872" cy="118872"/>
          </a:xfrm>
          <a:prstGeom prst="ellipse">
            <a:avLst/>
          </a:prstGeom>
          <a:solidFill>
            <a:srgbClr val="13704F"/>
          </a:solidFill>
          <a:ln w="12700">
            <a:solidFill>
              <a:srgbClr val="13704F"/>
            </a:solidFill>
            <a:prstDash val="solid"/>
          </a:ln>
        </p:spPr>
      </p:sp>
      <p:sp>
        <p:nvSpPr>
          <p:cNvPr id="12" name="Text 10"/>
          <p:cNvSpPr txBox="1"/>
          <p:nvPr/>
        </p:nvSpPr>
        <p:spPr>
          <a:xfrm>
            <a:off x="841248" y="3639312"/>
            <a:ext cx="3566160" cy="329184"/>
          </a:xfrm>
          <a:prstGeom prst="rect">
            <a:avLst/>
          </a:prstGeom>
          <a:noFill/>
          <a:ln/>
        </p:spPr>
        <p:txBody>
          <a:bodyPr wrap="square" lIns="0" tIns="0" rIns="0" bIns="0" rtlCol="0" anchor="ctr"/>
          <a:lstStyle/>
          <a:p>
            <a:pPr indent="0" marL="0">
              <a:buNone/>
            </a:pPr>
            <a:r>
              <a:rPr lang="en-US" sz="1900" b="1" dirty="0">
                <a:solidFill>
                  <a:srgbClr val="141A21"/>
                </a:solidFill>
                <a:latin typeface="Arial" pitchFamily="34" charset="0"/>
                <a:ea typeface="Arial" pitchFamily="34" charset="-122"/>
                <a:cs typeface="Arial" pitchFamily="34" charset="-120"/>
              </a:rPr>
              <a:t>Clear spec, executable checks</a:t>
            </a:r>
            <a:endParaRPr lang="en-US" sz="1900" dirty="0"/>
          </a:p>
        </p:txBody>
      </p:sp>
      <p:sp>
        <p:nvSpPr>
          <p:cNvPr id="13" name="Text 11"/>
          <p:cNvSpPr txBox="1"/>
          <p:nvPr/>
        </p:nvSpPr>
        <p:spPr>
          <a:xfrm>
            <a:off x="841248" y="3986784"/>
            <a:ext cx="3566160" cy="310896"/>
          </a:xfrm>
          <a:prstGeom prst="rect">
            <a:avLst/>
          </a:prstGeom>
          <a:noFill/>
          <a:ln/>
        </p:spPr>
        <p:txBody>
          <a:bodyPr wrap="square" lIns="0" tIns="0" rIns="0" bIns="0" rtlCol="0" anchor="t"/>
          <a:lstStyle/>
          <a:p>
            <a:pPr indent="0" marL="0">
              <a:lnSpc>
                <a:spcPct val="105000"/>
              </a:lnSpc>
              <a:buNone/>
            </a:pPr>
            <a:r>
              <a:rPr lang="en-US" sz="1600" dirty="0">
                <a:solidFill>
                  <a:srgbClr val="4E5A66"/>
                </a:solidFill>
                <a:latin typeface="Calibri" pitchFamily="34" charset="0"/>
                <a:ea typeface="Calibri" pitchFamily="34" charset="-122"/>
                <a:cs typeface="Calibri" pitchFamily="34" charset="-120"/>
              </a:rPr>
              <a:t>The check decides, not the prose.</a:t>
            </a:r>
            <a:endParaRPr lang="en-US" sz="1600" dirty="0"/>
          </a:p>
        </p:txBody>
      </p:sp>
      <p:sp>
        <p:nvSpPr>
          <p:cNvPr id="14" name="Text 12"/>
          <p:cNvSpPr txBox="1"/>
          <p:nvPr/>
        </p:nvSpPr>
        <p:spPr>
          <a:xfrm>
            <a:off x="4736592" y="1444752"/>
            <a:ext cx="3840480" cy="274320"/>
          </a:xfrm>
          <a:prstGeom prst="rect">
            <a:avLst/>
          </a:prstGeom>
          <a:noFill/>
          <a:ln/>
        </p:spPr>
        <p:txBody>
          <a:bodyPr wrap="square" lIns="0" tIns="0" rIns="0" bIns="0" rtlCol="0" anchor="ctr"/>
          <a:lstStyle/>
          <a:p>
            <a:pPr indent="0" marL="0">
              <a:buNone/>
            </a:pPr>
            <a:r>
              <a:rPr lang="en-US" sz="1200" spc="140" kern="0" dirty="0">
                <a:solidFill>
                  <a:srgbClr val="A8352A"/>
                </a:solidFill>
                <a:latin typeface="Courier New" pitchFamily="34" charset="0"/>
                <a:ea typeface="Courier New" pitchFamily="34" charset="-122"/>
                <a:cs typeface="Courier New" pitchFamily="34" charset="-120"/>
              </a:rPr>
              <a:t>NEEDS HUMAN JUDGMENT</a:t>
            </a:r>
            <a:endParaRPr lang="en-US" sz="1200" dirty="0"/>
          </a:p>
        </p:txBody>
      </p:sp>
      <p:sp>
        <p:nvSpPr>
          <p:cNvPr id="15" name="Shape 13"/>
          <p:cNvSpPr/>
          <p:nvPr/>
        </p:nvSpPr>
        <p:spPr>
          <a:xfrm>
            <a:off x="4736592" y="1965960"/>
            <a:ext cx="118872" cy="118872"/>
          </a:xfrm>
          <a:prstGeom prst="ellipse">
            <a:avLst/>
          </a:prstGeom>
          <a:solidFill>
            <a:srgbClr val="A8352A"/>
          </a:solidFill>
          <a:ln w="12700">
            <a:solidFill>
              <a:srgbClr val="A8352A"/>
            </a:solidFill>
            <a:prstDash val="solid"/>
          </a:ln>
        </p:spPr>
      </p:sp>
      <p:sp>
        <p:nvSpPr>
          <p:cNvPr id="16" name="Text 14"/>
          <p:cNvSpPr txBox="1"/>
          <p:nvPr/>
        </p:nvSpPr>
        <p:spPr>
          <a:xfrm>
            <a:off x="5010912" y="1847088"/>
            <a:ext cx="3566160" cy="329184"/>
          </a:xfrm>
          <a:prstGeom prst="rect">
            <a:avLst/>
          </a:prstGeom>
          <a:noFill/>
          <a:ln/>
        </p:spPr>
        <p:txBody>
          <a:bodyPr wrap="square" lIns="0" tIns="0" rIns="0" bIns="0" rtlCol="0" anchor="ctr"/>
          <a:lstStyle/>
          <a:p>
            <a:pPr indent="0" marL="0">
              <a:buNone/>
            </a:pPr>
            <a:r>
              <a:rPr lang="en-US" sz="1900" b="1" dirty="0">
                <a:solidFill>
                  <a:srgbClr val="141A21"/>
                </a:solidFill>
                <a:latin typeface="Arial" pitchFamily="34" charset="0"/>
                <a:ea typeface="Arial" pitchFamily="34" charset="-122"/>
                <a:cs typeface="Arial" pitchFamily="34" charset="-120"/>
              </a:rPr>
              <a:t>What to build</a:t>
            </a:r>
            <a:endParaRPr lang="en-US" sz="1900" dirty="0"/>
          </a:p>
        </p:txBody>
      </p:sp>
      <p:sp>
        <p:nvSpPr>
          <p:cNvPr id="17" name="Text 15"/>
          <p:cNvSpPr txBox="1"/>
          <p:nvPr/>
        </p:nvSpPr>
        <p:spPr>
          <a:xfrm>
            <a:off x="5010912" y="2194560"/>
            <a:ext cx="3566160" cy="310896"/>
          </a:xfrm>
          <a:prstGeom prst="rect">
            <a:avLst/>
          </a:prstGeom>
          <a:noFill/>
          <a:ln/>
        </p:spPr>
        <p:txBody>
          <a:bodyPr wrap="square" lIns="0" tIns="0" rIns="0" bIns="0" rtlCol="0" anchor="t"/>
          <a:lstStyle/>
          <a:p>
            <a:pPr indent="0" marL="0">
              <a:lnSpc>
                <a:spcPct val="105000"/>
              </a:lnSpc>
              <a:buNone/>
            </a:pPr>
            <a:r>
              <a:rPr lang="en-US" sz="1600" dirty="0">
                <a:solidFill>
                  <a:srgbClr val="4E5A66"/>
                </a:solidFill>
                <a:latin typeface="Calibri" pitchFamily="34" charset="0"/>
                <a:ea typeface="Calibri" pitchFamily="34" charset="-122"/>
                <a:cs typeface="Calibri" pitchFamily="34" charset="-120"/>
              </a:rPr>
              <a:t>The loop makes no product decisions.</a:t>
            </a:r>
            <a:endParaRPr lang="en-US" sz="1600" dirty="0"/>
          </a:p>
        </p:txBody>
      </p:sp>
      <p:sp>
        <p:nvSpPr>
          <p:cNvPr id="18" name="Shape 16"/>
          <p:cNvSpPr/>
          <p:nvPr/>
        </p:nvSpPr>
        <p:spPr>
          <a:xfrm>
            <a:off x="4736592" y="2862072"/>
            <a:ext cx="118872" cy="118872"/>
          </a:xfrm>
          <a:prstGeom prst="ellipse">
            <a:avLst/>
          </a:prstGeom>
          <a:solidFill>
            <a:srgbClr val="A8352A"/>
          </a:solidFill>
          <a:ln w="12700">
            <a:solidFill>
              <a:srgbClr val="A8352A"/>
            </a:solidFill>
            <a:prstDash val="solid"/>
          </a:ln>
        </p:spPr>
      </p:sp>
      <p:sp>
        <p:nvSpPr>
          <p:cNvPr id="19" name="Text 17"/>
          <p:cNvSpPr txBox="1"/>
          <p:nvPr/>
        </p:nvSpPr>
        <p:spPr>
          <a:xfrm>
            <a:off x="5010912" y="2743200"/>
            <a:ext cx="3566160" cy="329184"/>
          </a:xfrm>
          <a:prstGeom prst="rect">
            <a:avLst/>
          </a:prstGeom>
          <a:noFill/>
          <a:ln/>
        </p:spPr>
        <p:txBody>
          <a:bodyPr wrap="square" lIns="0" tIns="0" rIns="0" bIns="0" rtlCol="0" anchor="ctr"/>
          <a:lstStyle/>
          <a:p>
            <a:pPr indent="0" marL="0">
              <a:buNone/>
            </a:pPr>
            <a:r>
              <a:rPr lang="en-US" sz="1900" b="1" dirty="0">
                <a:solidFill>
                  <a:srgbClr val="141A21"/>
                </a:solidFill>
                <a:latin typeface="Arial" pitchFamily="34" charset="0"/>
                <a:ea typeface="Arial" pitchFamily="34" charset="-122"/>
                <a:cs typeface="Arial" pitchFamily="34" charset="-120"/>
              </a:rPr>
              <a:t>Taste and ambiguity</a:t>
            </a:r>
            <a:endParaRPr lang="en-US" sz="1900" dirty="0"/>
          </a:p>
        </p:txBody>
      </p:sp>
      <p:sp>
        <p:nvSpPr>
          <p:cNvPr id="20" name="Text 18"/>
          <p:cNvSpPr txBox="1"/>
          <p:nvPr/>
        </p:nvSpPr>
        <p:spPr>
          <a:xfrm>
            <a:off x="5010912" y="3090672"/>
            <a:ext cx="3566160" cy="310896"/>
          </a:xfrm>
          <a:prstGeom prst="rect">
            <a:avLst/>
          </a:prstGeom>
          <a:noFill/>
          <a:ln/>
        </p:spPr>
        <p:txBody>
          <a:bodyPr wrap="square" lIns="0" tIns="0" rIns="0" bIns="0" rtlCol="0" anchor="t"/>
          <a:lstStyle/>
          <a:p>
            <a:pPr indent="0" marL="0">
              <a:lnSpc>
                <a:spcPct val="105000"/>
              </a:lnSpc>
              <a:buNone/>
            </a:pPr>
            <a:r>
              <a:rPr lang="en-US" sz="1600" dirty="0">
                <a:solidFill>
                  <a:srgbClr val="4E5A66"/>
                </a:solidFill>
                <a:latin typeface="Calibri" pitchFamily="34" charset="0"/>
                <a:ea typeface="Calibri" pitchFamily="34" charset="-122"/>
                <a:cs typeface="Calibri" pitchFamily="34" charset="-120"/>
              </a:rPr>
              <a:t>API shape, or anything you'd argue about.</a:t>
            </a:r>
            <a:endParaRPr lang="en-US" sz="1600" dirty="0"/>
          </a:p>
        </p:txBody>
      </p:sp>
      <p:sp>
        <p:nvSpPr>
          <p:cNvPr id="21" name="Shape 19"/>
          <p:cNvSpPr/>
          <p:nvPr/>
        </p:nvSpPr>
        <p:spPr>
          <a:xfrm>
            <a:off x="4736592" y="3758184"/>
            <a:ext cx="118872" cy="118872"/>
          </a:xfrm>
          <a:prstGeom prst="ellipse">
            <a:avLst/>
          </a:prstGeom>
          <a:solidFill>
            <a:srgbClr val="A8352A"/>
          </a:solidFill>
          <a:ln w="12700">
            <a:solidFill>
              <a:srgbClr val="A8352A"/>
            </a:solidFill>
            <a:prstDash val="solid"/>
          </a:ln>
        </p:spPr>
      </p:sp>
      <p:sp>
        <p:nvSpPr>
          <p:cNvPr id="22" name="Text 20"/>
          <p:cNvSpPr txBox="1"/>
          <p:nvPr/>
        </p:nvSpPr>
        <p:spPr>
          <a:xfrm>
            <a:off x="5010912" y="3639312"/>
            <a:ext cx="3566160" cy="329184"/>
          </a:xfrm>
          <a:prstGeom prst="rect">
            <a:avLst/>
          </a:prstGeom>
          <a:noFill/>
          <a:ln/>
        </p:spPr>
        <p:txBody>
          <a:bodyPr wrap="square" lIns="0" tIns="0" rIns="0" bIns="0" rtlCol="0" anchor="ctr"/>
          <a:lstStyle/>
          <a:p>
            <a:pPr indent="0" marL="0">
              <a:buNone/>
            </a:pPr>
            <a:r>
              <a:rPr lang="en-US" sz="1900" b="1" dirty="0">
                <a:solidFill>
                  <a:srgbClr val="141A21"/>
                </a:solidFill>
                <a:latin typeface="Arial" pitchFamily="34" charset="0"/>
                <a:ea typeface="Arial" pitchFamily="34" charset="-122"/>
                <a:cs typeface="Arial" pitchFamily="34" charset="-120"/>
              </a:rPr>
              <a:t>Irreversible actions</a:t>
            </a:r>
            <a:endParaRPr lang="en-US" sz="1900" dirty="0"/>
          </a:p>
        </p:txBody>
      </p:sp>
      <p:sp>
        <p:nvSpPr>
          <p:cNvPr id="23" name="Text 21"/>
          <p:cNvSpPr txBox="1"/>
          <p:nvPr/>
        </p:nvSpPr>
        <p:spPr>
          <a:xfrm>
            <a:off x="5010912" y="3986784"/>
            <a:ext cx="3566160" cy="310896"/>
          </a:xfrm>
          <a:prstGeom prst="rect">
            <a:avLst/>
          </a:prstGeom>
          <a:noFill/>
          <a:ln/>
        </p:spPr>
        <p:txBody>
          <a:bodyPr wrap="square" lIns="0" tIns="0" rIns="0" bIns="0" rtlCol="0" anchor="t"/>
          <a:lstStyle/>
          <a:p>
            <a:pPr indent="0" marL="0">
              <a:lnSpc>
                <a:spcPct val="105000"/>
              </a:lnSpc>
              <a:buNone/>
            </a:pPr>
            <a:r>
              <a:rPr lang="en-US" sz="1600" dirty="0">
                <a:solidFill>
                  <a:srgbClr val="4E5A66"/>
                </a:solidFill>
                <a:latin typeface="Calibri" pitchFamily="34" charset="0"/>
                <a:ea typeface="Calibri" pitchFamily="34" charset="-122"/>
                <a:cs typeface="Calibri" pitchFamily="34" charset="-120"/>
              </a:rPr>
              <a:t>One-way doors still need a person.</a:t>
            </a:r>
            <a:endParaRPr lang="en-US" sz="1600" dirty="0"/>
          </a:p>
        </p:txBody>
      </p:sp>
      <p:sp>
        <p:nvSpPr>
          <p:cNvPr id="24" name="Text 22"/>
          <p:cNvSpPr txBox="1"/>
          <p:nvPr/>
        </p:nvSpPr>
        <p:spPr>
          <a:xfrm>
            <a:off x="566928" y="4535424"/>
            <a:ext cx="8010144" cy="329184"/>
          </a:xfrm>
          <a:prstGeom prst="rect">
            <a:avLst/>
          </a:prstGeom>
          <a:noFill/>
          <a:ln/>
        </p:spPr>
        <p:txBody>
          <a:bodyPr wrap="square" lIns="0" tIns="0" rIns="0" bIns="0" rtlCol="0" anchor="ctr"/>
          <a:lstStyle/>
          <a:p>
            <a:pPr indent="0" marL="0">
              <a:buNone/>
            </a:pPr>
            <a:r>
              <a:rPr lang="en-US" sz="1600" i="1" dirty="0">
                <a:solidFill>
                  <a:srgbClr val="141A21"/>
                </a:solidFill>
                <a:latin typeface="Calibri" pitchFamily="34" charset="0"/>
                <a:ea typeface="Calibri" pitchFamily="34" charset="-122"/>
                <a:cs typeface="Calibri" pitchFamily="34" charset="-120"/>
              </a:rPr>
              <a:t>One real run shows the loop works here. A productivity claim still needs a baseline.</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8"/>
        </a:solidFill>
      </p:bgPr>
    </p:bg>
    <p:spTree>
      <p:nvGrpSpPr>
        <p:cNvPr id="1" name=""/>
        <p:cNvGrpSpPr/>
        <p:nvPr/>
      </p:nvGrpSpPr>
      <p:grpSpPr>
        <a:xfrm>
          <a:off x="0" y="0"/>
          <a:ext cx="0" cy="0"/>
          <a:chOff x="0" y="0"/>
          <a:chExt cx="0" cy="0"/>
        </a:xfrm>
      </p:grpSpPr>
      <p:sp>
        <p:nvSpPr>
          <p:cNvPr id="2" name="Text 0"/>
          <p:cNvSpPr txBox="1"/>
          <p:nvPr/>
        </p:nvSpPr>
        <p:spPr>
          <a:xfrm>
            <a:off x="566928" y="256032"/>
            <a:ext cx="1828800" cy="256032"/>
          </a:xfrm>
          <a:prstGeom prst="rect">
            <a:avLst/>
          </a:prstGeom>
          <a:noFill/>
          <a:ln/>
        </p:spPr>
        <p:txBody>
          <a:bodyPr wrap="square" lIns="0" tIns="0" rIns="0" bIns="0" rtlCol="0" anchor="ctr"/>
          <a:lstStyle/>
          <a:p>
            <a:pPr indent="0" marL="0">
              <a:buNone/>
            </a:pPr>
            <a:r>
              <a:rPr lang="en-US" sz="1100" spc="100" kern="0" dirty="0">
                <a:solidFill>
                  <a:srgbClr val="4E5A66"/>
                </a:solidFill>
                <a:latin typeface="Courier New" pitchFamily="34" charset="0"/>
                <a:ea typeface="Courier New" pitchFamily="34" charset="-122"/>
                <a:cs typeface="Courier New" pitchFamily="34" charset="-120"/>
              </a:rPr>
              <a:t>09 / 10</a:t>
            </a:r>
            <a:endParaRPr lang="en-US" sz="1100" dirty="0"/>
          </a:p>
        </p:txBody>
      </p:sp>
      <p:sp>
        <p:nvSpPr>
          <p:cNvPr id="3" name="Text 1"/>
          <p:cNvSpPr txBox="1"/>
          <p:nvPr/>
        </p:nvSpPr>
        <p:spPr>
          <a:xfrm>
            <a:off x="566928" y="640080"/>
            <a:ext cx="8010144" cy="676656"/>
          </a:xfrm>
          <a:prstGeom prst="rect">
            <a:avLst/>
          </a:prstGeom>
          <a:noFill/>
          <a:ln/>
        </p:spPr>
        <p:txBody>
          <a:bodyPr wrap="square" lIns="0" tIns="0" rIns="0" bIns="0" rtlCol="0" anchor="ctr"/>
          <a:lstStyle/>
          <a:p>
            <a:pPr indent="0" marL="0">
              <a:buNone/>
            </a:pPr>
            <a:r>
              <a:rPr lang="en-US" sz="3200" b="1" dirty="0">
                <a:solidFill>
                  <a:srgbClr val="141A21"/>
                </a:solidFill>
                <a:latin typeface="Arial" pitchFamily="34" charset="0"/>
                <a:ea typeface="Arial" pitchFamily="34" charset="-122"/>
                <a:cs typeface="Arial" pitchFamily="34" charset="-120"/>
              </a:rPr>
              <a:t>Hasn't multi-agent replaced this?</a:t>
            </a:r>
            <a:endParaRPr lang="en-US" sz="3200" dirty="0"/>
          </a:p>
        </p:txBody>
      </p:sp>
      <p:sp>
        <p:nvSpPr>
          <p:cNvPr id="4" name="Shape 2"/>
          <p:cNvSpPr/>
          <p:nvPr/>
        </p:nvSpPr>
        <p:spPr>
          <a:xfrm>
            <a:off x="566928" y="1517904"/>
            <a:ext cx="2103120" cy="1371600"/>
          </a:xfrm>
          <a:prstGeom prst="roundRect">
            <a:avLst>
              <a:gd name="adj" fmla="val 5333"/>
            </a:avLst>
          </a:prstGeom>
          <a:solidFill>
            <a:srgbClr val="0F1419"/>
          </a:solidFill>
          <a:ln w="12700">
            <a:solidFill>
              <a:srgbClr val="0F1419"/>
            </a:solidFill>
            <a:prstDash val="solid"/>
          </a:ln>
        </p:spPr>
      </p:sp>
      <p:sp>
        <p:nvSpPr>
          <p:cNvPr id="5" name="Text 3"/>
          <p:cNvSpPr txBox="1"/>
          <p:nvPr/>
        </p:nvSpPr>
        <p:spPr>
          <a:xfrm>
            <a:off x="566928" y="1517904"/>
            <a:ext cx="2103120" cy="1371600"/>
          </a:xfrm>
          <a:prstGeom prst="rect">
            <a:avLst/>
          </a:prstGeom>
          <a:noFill/>
          <a:ln/>
        </p:spPr>
        <p:txBody>
          <a:bodyPr wrap="square" lIns="0" tIns="0" rIns="0" bIns="0" rtlCol="0" anchor="ctr"/>
          <a:lstStyle/>
          <a:p>
            <a:pPr algn="ctr" indent="0" marL="0">
              <a:buNone/>
            </a:pPr>
            <a:r>
              <a:rPr lang="en-US" sz="1700" b="1" dirty="0">
                <a:solidFill>
                  <a:srgbClr val="E9EDF2"/>
                </a:solidFill>
                <a:latin typeface="Arial" pitchFamily="34" charset="0"/>
                <a:ea typeface="Arial" pitchFamily="34" charset="-122"/>
                <a:cs typeface="Arial" pitchFamily="34" charset="-120"/>
              </a:rPr>
              <a:t>Orchestrator</a:t>
            </a:r>
            <a:endParaRPr lang="en-US" sz="1700" dirty="0"/>
          </a:p>
          <a:p>
            <a:pPr algn="ctr" indent="0" marL="0">
              <a:buNone/>
            </a:pPr>
            <a:r>
              <a:rPr lang="en-US" sz="1400" dirty="0">
                <a:solidFill>
                  <a:srgbClr val="97A3B1"/>
                </a:solidFill>
                <a:latin typeface="Calibri" pitchFamily="34" charset="0"/>
                <a:ea typeface="Calibri" pitchFamily="34" charset="-122"/>
                <a:cs typeface="Calibri" pitchFamily="34" charset="-120"/>
              </a:rPr>
              <a:t>splits the work</a:t>
            </a:r>
            <a:endParaRPr lang="en-US" sz="1700" dirty="0"/>
          </a:p>
        </p:txBody>
      </p:sp>
      <p:sp>
        <p:nvSpPr>
          <p:cNvPr id="6" name="Shape 4"/>
          <p:cNvSpPr/>
          <p:nvPr/>
        </p:nvSpPr>
        <p:spPr>
          <a:xfrm>
            <a:off x="2670048" y="2203704"/>
            <a:ext cx="411480" cy="0"/>
          </a:xfrm>
          <a:prstGeom prst="line">
            <a:avLst/>
          </a:prstGeom>
          <a:noFill/>
          <a:ln w="19050">
            <a:solidFill>
              <a:srgbClr val="4E5A66"/>
            </a:solidFill>
            <a:prstDash val="solid"/>
          </a:ln>
        </p:spPr>
      </p:sp>
      <p:sp>
        <p:nvSpPr>
          <p:cNvPr id="7" name="Shape 5"/>
          <p:cNvSpPr/>
          <p:nvPr/>
        </p:nvSpPr>
        <p:spPr>
          <a:xfrm>
            <a:off x="3081528" y="1700784"/>
            <a:ext cx="0" cy="1005840"/>
          </a:xfrm>
          <a:prstGeom prst="line">
            <a:avLst/>
          </a:prstGeom>
          <a:noFill/>
          <a:ln w="19050">
            <a:solidFill>
              <a:srgbClr val="4E5A66"/>
            </a:solidFill>
            <a:prstDash val="solid"/>
          </a:ln>
        </p:spPr>
      </p:sp>
      <p:sp>
        <p:nvSpPr>
          <p:cNvPr id="8" name="Shape 6"/>
          <p:cNvSpPr/>
          <p:nvPr/>
        </p:nvSpPr>
        <p:spPr>
          <a:xfrm>
            <a:off x="3081528" y="1700784"/>
            <a:ext cx="365760" cy="0"/>
          </a:xfrm>
          <a:prstGeom prst="line">
            <a:avLst/>
          </a:prstGeom>
          <a:noFill/>
          <a:ln w="19050">
            <a:solidFill>
              <a:srgbClr val="4E5A66"/>
            </a:solidFill>
            <a:prstDash val="solid"/>
            <a:tailEnd type="triangle"/>
          </a:ln>
        </p:spPr>
      </p:sp>
      <p:sp>
        <p:nvSpPr>
          <p:cNvPr id="9" name="Shape 7"/>
          <p:cNvSpPr/>
          <p:nvPr/>
        </p:nvSpPr>
        <p:spPr>
          <a:xfrm>
            <a:off x="3493008" y="1517904"/>
            <a:ext cx="5084064" cy="365760"/>
          </a:xfrm>
          <a:prstGeom prst="roundRect">
            <a:avLst>
              <a:gd name="adj" fmla="val 15000"/>
            </a:avLst>
          </a:prstGeom>
          <a:solidFill>
            <a:srgbClr val="FFFFFF"/>
          </a:solidFill>
          <a:ln w="12700">
            <a:solidFill>
              <a:srgbClr val="D9DEE4"/>
            </a:solidFill>
            <a:prstDash val="solid"/>
          </a:ln>
        </p:spPr>
      </p:sp>
      <p:sp>
        <p:nvSpPr>
          <p:cNvPr id="10" name="Text 8"/>
          <p:cNvSpPr txBox="1"/>
          <p:nvPr/>
        </p:nvSpPr>
        <p:spPr>
          <a:xfrm>
            <a:off x="3675888" y="1517904"/>
            <a:ext cx="4809744" cy="365760"/>
          </a:xfrm>
          <a:prstGeom prst="rect">
            <a:avLst/>
          </a:prstGeom>
          <a:noFill/>
          <a:ln/>
        </p:spPr>
        <p:txBody>
          <a:bodyPr wrap="square" lIns="0" tIns="0" rIns="0" bIns="0" rtlCol="0" anchor="ctr"/>
          <a:lstStyle/>
          <a:p>
            <a:pPr indent="0" marL="0">
              <a:buNone/>
            </a:pPr>
            <a:r>
              <a:rPr lang="en-US" sz="1300" b="1" dirty="0">
                <a:solidFill>
                  <a:srgbClr val="141A21"/>
                </a:solidFill>
                <a:latin typeface="Courier New" pitchFamily="34" charset="0"/>
                <a:ea typeface="Courier New" pitchFamily="34" charset="-122"/>
                <a:cs typeface="Courier New" pitchFamily="34" charset="-120"/>
              </a:rPr>
              <a:t>worker 1   </a:t>
            </a:r>
            <a:pPr indent="0" marL="0">
              <a:buNone/>
            </a:pPr>
            <a:r>
              <a:rPr lang="en-US" sz="1300" dirty="0">
                <a:solidFill>
                  <a:srgbClr val="13704F"/>
                </a:solidFill>
                <a:latin typeface="Courier New" pitchFamily="34" charset="0"/>
                <a:ea typeface="Courier New" pitchFamily="34" charset="-122"/>
                <a:cs typeface="Courier New" pitchFamily="34" charset="-120"/>
              </a:rPr>
              <a:t>fresh context → verify → commit ↻</a:t>
            </a:r>
            <a:endParaRPr lang="en-US" sz="1300" dirty="0"/>
          </a:p>
        </p:txBody>
      </p:sp>
      <p:sp>
        <p:nvSpPr>
          <p:cNvPr id="11" name="Shape 9"/>
          <p:cNvSpPr/>
          <p:nvPr/>
        </p:nvSpPr>
        <p:spPr>
          <a:xfrm>
            <a:off x="3081528" y="2203704"/>
            <a:ext cx="365760" cy="0"/>
          </a:xfrm>
          <a:prstGeom prst="line">
            <a:avLst/>
          </a:prstGeom>
          <a:noFill/>
          <a:ln w="19050">
            <a:solidFill>
              <a:srgbClr val="4E5A66"/>
            </a:solidFill>
            <a:prstDash val="solid"/>
            <a:tailEnd type="triangle"/>
          </a:ln>
        </p:spPr>
      </p:sp>
      <p:sp>
        <p:nvSpPr>
          <p:cNvPr id="12" name="Shape 10"/>
          <p:cNvSpPr/>
          <p:nvPr/>
        </p:nvSpPr>
        <p:spPr>
          <a:xfrm>
            <a:off x="3493008" y="2020824"/>
            <a:ext cx="5084064" cy="365760"/>
          </a:xfrm>
          <a:prstGeom prst="roundRect">
            <a:avLst>
              <a:gd name="adj" fmla="val 15000"/>
            </a:avLst>
          </a:prstGeom>
          <a:solidFill>
            <a:srgbClr val="FFFFFF"/>
          </a:solidFill>
          <a:ln w="12700">
            <a:solidFill>
              <a:srgbClr val="D9DEE4"/>
            </a:solidFill>
            <a:prstDash val="solid"/>
          </a:ln>
        </p:spPr>
      </p:sp>
      <p:sp>
        <p:nvSpPr>
          <p:cNvPr id="13" name="Text 11"/>
          <p:cNvSpPr txBox="1"/>
          <p:nvPr/>
        </p:nvSpPr>
        <p:spPr>
          <a:xfrm>
            <a:off x="3675888" y="2020824"/>
            <a:ext cx="4809744" cy="365760"/>
          </a:xfrm>
          <a:prstGeom prst="rect">
            <a:avLst/>
          </a:prstGeom>
          <a:noFill/>
          <a:ln/>
        </p:spPr>
        <p:txBody>
          <a:bodyPr wrap="square" lIns="0" tIns="0" rIns="0" bIns="0" rtlCol="0" anchor="ctr"/>
          <a:lstStyle/>
          <a:p>
            <a:pPr indent="0" marL="0">
              <a:buNone/>
            </a:pPr>
            <a:r>
              <a:rPr lang="en-US" sz="1300" b="1" dirty="0">
                <a:solidFill>
                  <a:srgbClr val="141A21"/>
                </a:solidFill>
                <a:latin typeface="Courier New" pitchFamily="34" charset="0"/>
                <a:ea typeface="Courier New" pitchFamily="34" charset="-122"/>
                <a:cs typeface="Courier New" pitchFamily="34" charset="-120"/>
              </a:rPr>
              <a:t>worker 2   </a:t>
            </a:r>
            <a:pPr indent="0" marL="0">
              <a:buNone/>
            </a:pPr>
            <a:r>
              <a:rPr lang="en-US" sz="1300" dirty="0">
                <a:solidFill>
                  <a:srgbClr val="13704F"/>
                </a:solidFill>
                <a:latin typeface="Courier New" pitchFamily="34" charset="0"/>
                <a:ea typeface="Courier New" pitchFamily="34" charset="-122"/>
                <a:cs typeface="Courier New" pitchFamily="34" charset="-120"/>
              </a:rPr>
              <a:t>fresh context → verify → commit ↻</a:t>
            </a:r>
            <a:endParaRPr lang="en-US" sz="1300" dirty="0"/>
          </a:p>
        </p:txBody>
      </p:sp>
      <p:sp>
        <p:nvSpPr>
          <p:cNvPr id="14" name="Shape 12"/>
          <p:cNvSpPr/>
          <p:nvPr/>
        </p:nvSpPr>
        <p:spPr>
          <a:xfrm>
            <a:off x="3081528" y="2706624"/>
            <a:ext cx="365760" cy="0"/>
          </a:xfrm>
          <a:prstGeom prst="line">
            <a:avLst/>
          </a:prstGeom>
          <a:noFill/>
          <a:ln w="19050">
            <a:solidFill>
              <a:srgbClr val="4E5A66"/>
            </a:solidFill>
            <a:prstDash val="solid"/>
            <a:tailEnd type="triangle"/>
          </a:ln>
        </p:spPr>
      </p:sp>
      <p:sp>
        <p:nvSpPr>
          <p:cNvPr id="15" name="Shape 13"/>
          <p:cNvSpPr/>
          <p:nvPr/>
        </p:nvSpPr>
        <p:spPr>
          <a:xfrm>
            <a:off x="3493008" y="2523744"/>
            <a:ext cx="5084064" cy="365760"/>
          </a:xfrm>
          <a:prstGeom prst="roundRect">
            <a:avLst>
              <a:gd name="adj" fmla="val 15000"/>
            </a:avLst>
          </a:prstGeom>
          <a:solidFill>
            <a:srgbClr val="FFFFFF"/>
          </a:solidFill>
          <a:ln w="12700">
            <a:solidFill>
              <a:srgbClr val="D9DEE4"/>
            </a:solidFill>
            <a:prstDash val="solid"/>
          </a:ln>
        </p:spPr>
      </p:sp>
      <p:sp>
        <p:nvSpPr>
          <p:cNvPr id="16" name="Text 14"/>
          <p:cNvSpPr txBox="1"/>
          <p:nvPr/>
        </p:nvSpPr>
        <p:spPr>
          <a:xfrm>
            <a:off x="3675888" y="2523744"/>
            <a:ext cx="4809744" cy="365760"/>
          </a:xfrm>
          <a:prstGeom prst="rect">
            <a:avLst/>
          </a:prstGeom>
          <a:noFill/>
          <a:ln/>
        </p:spPr>
        <p:txBody>
          <a:bodyPr wrap="square" lIns="0" tIns="0" rIns="0" bIns="0" rtlCol="0" anchor="ctr"/>
          <a:lstStyle/>
          <a:p>
            <a:pPr indent="0" marL="0">
              <a:buNone/>
            </a:pPr>
            <a:r>
              <a:rPr lang="en-US" sz="1300" b="1" dirty="0">
                <a:solidFill>
                  <a:srgbClr val="141A21"/>
                </a:solidFill>
                <a:latin typeface="Courier New" pitchFamily="34" charset="0"/>
                <a:ea typeface="Courier New" pitchFamily="34" charset="-122"/>
                <a:cs typeface="Courier New" pitchFamily="34" charset="-120"/>
              </a:rPr>
              <a:t>worker 3   </a:t>
            </a:r>
            <a:pPr indent="0" marL="0">
              <a:buNone/>
            </a:pPr>
            <a:r>
              <a:rPr lang="en-US" sz="1300" dirty="0">
                <a:solidFill>
                  <a:srgbClr val="13704F"/>
                </a:solidFill>
                <a:latin typeface="Courier New" pitchFamily="34" charset="0"/>
                <a:ea typeface="Courier New" pitchFamily="34" charset="-122"/>
                <a:cs typeface="Courier New" pitchFamily="34" charset="-120"/>
              </a:rPr>
              <a:t>fresh context → verify → commit ↻</a:t>
            </a:r>
            <a:endParaRPr lang="en-US" sz="1300" dirty="0"/>
          </a:p>
        </p:txBody>
      </p:sp>
      <p:sp>
        <p:nvSpPr>
          <p:cNvPr id="17" name="Shape 15"/>
          <p:cNvSpPr/>
          <p:nvPr/>
        </p:nvSpPr>
        <p:spPr>
          <a:xfrm>
            <a:off x="566928" y="3282696"/>
            <a:ext cx="118872" cy="118872"/>
          </a:xfrm>
          <a:prstGeom prst="ellipse">
            <a:avLst/>
          </a:prstGeom>
          <a:solidFill>
            <a:srgbClr val="13704F"/>
          </a:solidFill>
          <a:ln w="12700">
            <a:solidFill>
              <a:srgbClr val="13704F"/>
            </a:solidFill>
            <a:prstDash val="solid"/>
          </a:ln>
        </p:spPr>
      </p:sp>
      <p:sp>
        <p:nvSpPr>
          <p:cNvPr id="18" name="Text 16"/>
          <p:cNvSpPr txBox="1"/>
          <p:nvPr/>
        </p:nvSpPr>
        <p:spPr>
          <a:xfrm>
            <a:off x="841248" y="3163824"/>
            <a:ext cx="3566160" cy="329184"/>
          </a:xfrm>
          <a:prstGeom prst="rect">
            <a:avLst/>
          </a:prstGeom>
          <a:noFill/>
          <a:ln/>
        </p:spPr>
        <p:txBody>
          <a:bodyPr wrap="square" lIns="0" tIns="0" rIns="0" bIns="0" rtlCol="0" anchor="ctr"/>
          <a:lstStyle/>
          <a:p>
            <a:pPr indent="0" marL="0">
              <a:buNone/>
            </a:pPr>
            <a:r>
              <a:rPr lang="en-US" sz="1900" b="1" dirty="0">
                <a:solidFill>
                  <a:srgbClr val="141A21"/>
                </a:solidFill>
                <a:latin typeface="Arial" pitchFamily="34" charset="0"/>
                <a:ea typeface="Arial" pitchFamily="34" charset="-122"/>
                <a:cs typeface="Arial" pitchFamily="34" charset="-120"/>
              </a:rPr>
              <a:t>Ralph: one agent</a:t>
            </a:r>
            <a:endParaRPr lang="en-US" sz="1900" dirty="0"/>
          </a:p>
        </p:txBody>
      </p:sp>
      <p:sp>
        <p:nvSpPr>
          <p:cNvPr id="19" name="Text 17"/>
          <p:cNvSpPr txBox="1"/>
          <p:nvPr/>
        </p:nvSpPr>
        <p:spPr>
          <a:xfrm>
            <a:off x="841248" y="3511296"/>
            <a:ext cx="3566160" cy="310896"/>
          </a:xfrm>
          <a:prstGeom prst="rect">
            <a:avLst/>
          </a:prstGeom>
          <a:noFill/>
          <a:ln/>
        </p:spPr>
        <p:txBody>
          <a:bodyPr wrap="square" lIns="0" tIns="0" rIns="0" bIns="0" rtlCol="0" anchor="t"/>
          <a:lstStyle/>
          <a:p>
            <a:pPr indent="0" marL="0">
              <a:lnSpc>
                <a:spcPct val="105000"/>
              </a:lnSpc>
              <a:buNone/>
            </a:pPr>
            <a:r>
              <a:rPr lang="en-US" sz="1600" dirty="0">
                <a:solidFill>
                  <a:srgbClr val="4E5A66"/>
                </a:solidFill>
                <a:latin typeface="Calibri" pitchFamily="34" charset="0"/>
                <a:ea typeface="Calibri" pitchFamily="34" charset="-122"/>
                <a:cs typeface="Calibri" pitchFamily="34" charset="-120"/>
              </a:rPr>
              <a:t>Many fresh passes beat the context limit.</a:t>
            </a:r>
            <a:endParaRPr lang="en-US" sz="1600" dirty="0"/>
          </a:p>
        </p:txBody>
      </p:sp>
      <p:sp>
        <p:nvSpPr>
          <p:cNvPr id="20" name="Shape 18"/>
          <p:cNvSpPr/>
          <p:nvPr/>
        </p:nvSpPr>
        <p:spPr>
          <a:xfrm>
            <a:off x="4736592" y="3282696"/>
            <a:ext cx="118872" cy="118872"/>
          </a:xfrm>
          <a:prstGeom prst="ellipse">
            <a:avLst/>
          </a:prstGeom>
          <a:solidFill>
            <a:srgbClr val="13704F"/>
          </a:solidFill>
          <a:ln w="12700">
            <a:solidFill>
              <a:srgbClr val="13704F"/>
            </a:solidFill>
            <a:prstDash val="solid"/>
          </a:ln>
        </p:spPr>
      </p:sp>
      <p:sp>
        <p:nvSpPr>
          <p:cNvPr id="21" name="Text 19"/>
          <p:cNvSpPr txBox="1"/>
          <p:nvPr/>
        </p:nvSpPr>
        <p:spPr>
          <a:xfrm>
            <a:off x="5010912" y="3163824"/>
            <a:ext cx="3566160" cy="329184"/>
          </a:xfrm>
          <a:prstGeom prst="rect">
            <a:avLst/>
          </a:prstGeom>
          <a:noFill/>
          <a:ln/>
        </p:spPr>
        <p:txBody>
          <a:bodyPr wrap="square" lIns="0" tIns="0" rIns="0" bIns="0" rtlCol="0" anchor="ctr"/>
          <a:lstStyle/>
          <a:p>
            <a:pPr indent="0" marL="0">
              <a:buNone/>
            </a:pPr>
            <a:r>
              <a:rPr lang="en-US" sz="1900" b="1" dirty="0">
                <a:solidFill>
                  <a:srgbClr val="141A21"/>
                </a:solidFill>
                <a:latin typeface="Arial" pitchFamily="34" charset="0"/>
                <a:ea typeface="Arial" pitchFamily="34" charset="-122"/>
                <a:cs typeface="Arial" pitchFamily="34" charset="-120"/>
              </a:rPr>
              <a:t>Multi-agent: many agents</a:t>
            </a:r>
            <a:endParaRPr lang="en-US" sz="1900" dirty="0"/>
          </a:p>
        </p:txBody>
      </p:sp>
      <p:sp>
        <p:nvSpPr>
          <p:cNvPr id="22" name="Text 20"/>
          <p:cNvSpPr txBox="1"/>
          <p:nvPr/>
        </p:nvSpPr>
        <p:spPr>
          <a:xfrm>
            <a:off x="5010912" y="3511296"/>
            <a:ext cx="3566160" cy="310896"/>
          </a:xfrm>
          <a:prstGeom prst="rect">
            <a:avLst/>
          </a:prstGeom>
          <a:noFill/>
          <a:ln/>
        </p:spPr>
        <p:txBody>
          <a:bodyPr wrap="square" lIns="0" tIns="0" rIns="0" bIns="0" rtlCol="0" anchor="t"/>
          <a:lstStyle/>
          <a:p>
            <a:pPr indent="0" marL="0">
              <a:lnSpc>
                <a:spcPct val="105000"/>
              </a:lnSpc>
              <a:buNone/>
            </a:pPr>
            <a:r>
              <a:rPr lang="en-US" sz="1600" dirty="0">
                <a:solidFill>
                  <a:srgbClr val="4E5A66"/>
                </a:solidFill>
                <a:latin typeface="Calibri" pitchFamily="34" charset="0"/>
                <a:ea typeface="Calibri" pitchFamily="34" charset="-122"/>
                <a:cs typeface="Calibri" pitchFamily="34" charset="-120"/>
              </a:rPr>
              <a:t>Splits the work and runs it in parallel.</a:t>
            </a:r>
            <a:endParaRPr lang="en-US" sz="1600" dirty="0"/>
          </a:p>
        </p:txBody>
      </p:sp>
      <p:sp>
        <p:nvSpPr>
          <p:cNvPr id="23" name="Text 21"/>
          <p:cNvSpPr txBox="1"/>
          <p:nvPr/>
        </p:nvSpPr>
        <p:spPr>
          <a:xfrm>
            <a:off x="566928" y="4224528"/>
            <a:ext cx="8010144" cy="365760"/>
          </a:xfrm>
          <a:prstGeom prst="rect">
            <a:avLst/>
          </a:prstGeom>
          <a:noFill/>
          <a:ln/>
        </p:spPr>
        <p:txBody>
          <a:bodyPr wrap="square" lIns="0" tIns="0" rIns="0" bIns="0" rtlCol="0" anchor="ctr"/>
          <a:lstStyle/>
          <a:p>
            <a:pPr indent="0" marL="0">
              <a:buNone/>
            </a:pPr>
            <a:r>
              <a:rPr lang="en-US" sz="2000" b="1" dirty="0">
                <a:solidFill>
                  <a:srgbClr val="141A21"/>
                </a:solidFill>
                <a:latin typeface="Arial" pitchFamily="34" charset="0"/>
                <a:ea typeface="Arial" pitchFamily="34" charset="-122"/>
                <a:cs typeface="Arial" pitchFamily="34" charset="-120"/>
              </a:rPr>
              <a:t>They compose: each worker still runs a loop like this one.</a:t>
            </a:r>
            <a:endParaRPr lang="en-US"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419"/>
        </a:solidFill>
      </p:bgPr>
    </p:bg>
    <p:spTree>
      <p:nvGrpSpPr>
        <p:cNvPr id="1" name=""/>
        <p:cNvGrpSpPr/>
        <p:nvPr/>
      </p:nvGrpSpPr>
      <p:grpSpPr>
        <a:xfrm>
          <a:off x="0" y="0"/>
          <a:ext cx="0" cy="0"/>
          <a:chOff x="0" y="0"/>
          <a:chExt cx="0" cy="0"/>
        </a:xfrm>
      </p:grpSpPr>
      <p:sp>
        <p:nvSpPr>
          <p:cNvPr id="2" name="Text 0"/>
          <p:cNvSpPr txBox="1"/>
          <p:nvPr/>
        </p:nvSpPr>
        <p:spPr>
          <a:xfrm>
            <a:off x="566928" y="256032"/>
            <a:ext cx="1828800" cy="256032"/>
          </a:xfrm>
          <a:prstGeom prst="rect">
            <a:avLst/>
          </a:prstGeom>
          <a:noFill/>
          <a:ln/>
        </p:spPr>
        <p:txBody>
          <a:bodyPr wrap="square" lIns="0" tIns="0" rIns="0" bIns="0" rtlCol="0" anchor="ctr"/>
          <a:lstStyle/>
          <a:p>
            <a:pPr indent="0" marL="0">
              <a:buNone/>
            </a:pPr>
            <a:r>
              <a:rPr lang="en-US" sz="1100" spc="100" kern="0" dirty="0">
                <a:solidFill>
                  <a:srgbClr val="97A3B1"/>
                </a:solidFill>
                <a:latin typeface="Courier New" pitchFamily="34" charset="0"/>
                <a:ea typeface="Courier New" pitchFamily="34" charset="-122"/>
                <a:cs typeface="Courier New" pitchFamily="34" charset="-120"/>
              </a:rPr>
              <a:t>10 / 10</a:t>
            </a:r>
            <a:endParaRPr lang="en-US" sz="1100" dirty="0"/>
          </a:p>
        </p:txBody>
      </p:sp>
      <p:sp>
        <p:nvSpPr>
          <p:cNvPr id="3" name="Text 1"/>
          <p:cNvSpPr txBox="1"/>
          <p:nvPr/>
        </p:nvSpPr>
        <p:spPr>
          <a:xfrm>
            <a:off x="566928" y="896112"/>
            <a:ext cx="4663440" cy="2286000"/>
          </a:xfrm>
          <a:prstGeom prst="rect">
            <a:avLst/>
          </a:prstGeom>
          <a:noFill/>
          <a:ln/>
        </p:spPr>
        <p:txBody>
          <a:bodyPr wrap="square" lIns="0" tIns="0" rIns="0" bIns="0" rtlCol="0" anchor="ctr"/>
          <a:lstStyle/>
          <a:p>
            <a:pPr indent="0" marL="0">
              <a:lnSpc>
                <a:spcPct val="110000"/>
              </a:lnSpc>
              <a:buNone/>
            </a:pPr>
            <a:r>
              <a:rPr lang="en-US" sz="3200" b="1" dirty="0">
                <a:solidFill>
                  <a:srgbClr val="E9EDF2"/>
                </a:solidFill>
                <a:latin typeface="Arial" pitchFamily="34" charset="0"/>
                <a:ea typeface="Arial" pitchFamily="34" charset="-122"/>
                <a:cs typeface="Arial" pitchFamily="34" charset="-120"/>
              </a:rPr>
              <a:t>Fresh context.</a:t>
            </a:r>
            <a:endParaRPr lang="en-US" sz="3200" dirty="0"/>
          </a:p>
          <a:p>
            <a:pPr indent="0" marL="0">
              <a:lnSpc>
                <a:spcPct val="110000"/>
              </a:lnSpc>
              <a:buNone/>
            </a:pPr>
            <a:r>
              <a:rPr lang="en-US" sz="3200" b="1" dirty="0">
                <a:solidFill>
                  <a:srgbClr val="E9EDF2"/>
                </a:solidFill>
                <a:latin typeface="Arial" pitchFamily="34" charset="0"/>
                <a:ea typeface="Arial" pitchFamily="34" charset="-122"/>
                <a:cs typeface="Arial" pitchFamily="34" charset="-120"/>
              </a:rPr>
              <a:t>State on disk.</a:t>
            </a:r>
            <a:endParaRPr lang="en-US" sz="3200" dirty="0"/>
          </a:p>
          <a:p>
            <a:pPr indent="0" marL="0">
              <a:lnSpc>
                <a:spcPct val="110000"/>
              </a:lnSpc>
              <a:buNone/>
            </a:pPr>
            <a:r>
              <a:rPr lang="en-US" sz="3200" b="1" dirty="0">
                <a:solidFill>
                  <a:srgbClr val="E9EDF2"/>
                </a:solidFill>
                <a:latin typeface="Arial" pitchFamily="34" charset="0"/>
                <a:ea typeface="Arial" pitchFamily="34" charset="-122"/>
                <a:cs typeface="Arial" pitchFamily="34" charset="-120"/>
              </a:rPr>
              <a:t>Backpressure.</a:t>
            </a:r>
            <a:endParaRPr lang="en-US" sz="3200" dirty="0"/>
          </a:p>
          <a:p>
            <a:pPr indent="0" marL="0">
              <a:lnSpc>
                <a:spcPct val="110000"/>
              </a:lnSpc>
              <a:buNone/>
            </a:pPr>
            <a:r>
              <a:rPr lang="en-US" sz="3200" b="1" dirty="0">
                <a:solidFill>
                  <a:srgbClr val="E9EDF2"/>
                </a:solidFill>
                <a:latin typeface="Arial" pitchFamily="34" charset="0"/>
                <a:ea typeface="Arial" pitchFamily="34" charset="-122"/>
                <a:cs typeface="Arial" pitchFamily="34" charset="-120"/>
              </a:rPr>
              <a:t>A human on the loop.</a:t>
            </a:r>
            <a:endParaRPr lang="en-US" sz="3200" dirty="0"/>
          </a:p>
        </p:txBody>
      </p:sp>
      <p:sp>
        <p:nvSpPr>
          <p:cNvPr id="4" name="Text 2"/>
          <p:cNvSpPr txBox="1"/>
          <p:nvPr/>
        </p:nvSpPr>
        <p:spPr>
          <a:xfrm>
            <a:off x="566928" y="3328416"/>
            <a:ext cx="4663440" cy="786384"/>
          </a:xfrm>
          <a:prstGeom prst="rect">
            <a:avLst/>
          </a:prstGeom>
          <a:noFill/>
          <a:ln/>
        </p:spPr>
        <p:txBody>
          <a:bodyPr wrap="square" lIns="0" tIns="0" rIns="0" bIns="0" rtlCol="0" anchor="ctr"/>
          <a:lstStyle/>
          <a:p>
            <a:pPr indent="0" marL="0">
              <a:lnSpc>
                <a:spcPct val="112000"/>
              </a:lnSpc>
              <a:buNone/>
            </a:pPr>
            <a:r>
              <a:rPr lang="en-US" sz="1800" dirty="0">
                <a:solidFill>
                  <a:srgbClr val="97A3B1"/>
                </a:solidFill>
                <a:latin typeface="Calibri" pitchFamily="34" charset="0"/>
                <a:ea typeface="Calibri" pitchFamily="34" charset="-122"/>
                <a:cs typeface="Calibri" pitchFamily="34" charset="-120"/>
              </a:rPr>
              <a:t>The loop is one line. Its quality comes from what you can verify.</a:t>
            </a:r>
            <a:endParaRPr lang="en-US" sz="1800" dirty="0"/>
          </a:p>
        </p:txBody>
      </p:sp>
      <p:sp>
        <p:nvSpPr>
          <p:cNvPr id="5" name="Shape 3"/>
          <p:cNvSpPr/>
          <p:nvPr/>
        </p:nvSpPr>
        <p:spPr>
          <a:xfrm>
            <a:off x="5358384" y="1417320"/>
            <a:ext cx="118872" cy="118872"/>
          </a:xfrm>
          <a:prstGeom prst="ellipse">
            <a:avLst/>
          </a:prstGeom>
          <a:solidFill>
            <a:srgbClr val="3DBE8B"/>
          </a:solidFill>
          <a:ln w="12700">
            <a:solidFill>
              <a:srgbClr val="3DBE8B"/>
            </a:solidFill>
            <a:prstDash val="solid"/>
          </a:ln>
        </p:spPr>
      </p:sp>
      <p:sp>
        <p:nvSpPr>
          <p:cNvPr id="6" name="Text 4"/>
          <p:cNvSpPr txBox="1"/>
          <p:nvPr/>
        </p:nvSpPr>
        <p:spPr>
          <a:xfrm>
            <a:off x="5632704" y="1298448"/>
            <a:ext cx="2944368" cy="329184"/>
          </a:xfrm>
          <a:prstGeom prst="rect">
            <a:avLst/>
          </a:prstGeom>
          <a:noFill/>
          <a:ln/>
        </p:spPr>
        <p:txBody>
          <a:bodyPr wrap="square" lIns="0" tIns="0" rIns="0" bIns="0" rtlCol="0" anchor="ctr"/>
          <a:lstStyle/>
          <a:p>
            <a:pPr indent="0" marL="0">
              <a:buNone/>
            </a:pPr>
            <a:r>
              <a:rPr lang="en-US" sz="1900" b="1" dirty="0">
                <a:solidFill>
                  <a:srgbClr val="E9EDF2"/>
                </a:solidFill>
                <a:latin typeface="Arial" pitchFamily="34" charset="0"/>
                <a:ea typeface="Arial" pitchFamily="34" charset="-122"/>
                <a:cs typeface="Arial" pitchFamily="34" charset="-120"/>
              </a:rPr>
              <a:t>tibia-charcreate</a:t>
            </a:r>
            <a:endParaRPr lang="en-US" sz="1900" dirty="0"/>
          </a:p>
        </p:txBody>
      </p:sp>
      <p:sp>
        <p:nvSpPr>
          <p:cNvPr id="7" name="Text 5"/>
          <p:cNvSpPr txBox="1"/>
          <p:nvPr/>
        </p:nvSpPr>
        <p:spPr>
          <a:xfrm>
            <a:off x="5632704" y="1645920"/>
            <a:ext cx="2944368" cy="566928"/>
          </a:xfrm>
          <a:prstGeom prst="rect">
            <a:avLst/>
          </a:prstGeom>
          <a:noFill/>
          <a:ln/>
        </p:spPr>
        <p:txBody>
          <a:bodyPr wrap="square" lIns="0" tIns="0" rIns="0" bIns="0" rtlCol="0" anchor="t"/>
          <a:lstStyle/>
          <a:p>
            <a:pPr indent="0" marL="0">
              <a:lnSpc>
                <a:spcPct val="105000"/>
              </a:lnSpc>
              <a:buNone/>
            </a:pPr>
            <a:r>
              <a:rPr lang="en-US" sz="1600" dirty="0">
                <a:solidFill>
                  <a:srgbClr val="97A3B1"/>
                </a:solidFill>
                <a:latin typeface="Calibri" pitchFamily="34" charset="0"/>
                <a:ea typeface="Calibri" pitchFamily="34" charset="-122"/>
                <a:cs typeface="Calibri" pitchFamily="34" charset="-120"/>
              </a:rPr>
              <a:t>The real run: specs, oracle, backlog and all ten commits.</a:t>
            </a:r>
            <a:endParaRPr lang="en-US" sz="1600" dirty="0"/>
          </a:p>
        </p:txBody>
      </p:sp>
      <p:sp>
        <p:nvSpPr>
          <p:cNvPr id="8" name="Shape 6"/>
          <p:cNvSpPr/>
          <p:nvPr/>
        </p:nvSpPr>
        <p:spPr>
          <a:xfrm>
            <a:off x="5358384" y="2386584"/>
            <a:ext cx="118872" cy="118872"/>
          </a:xfrm>
          <a:prstGeom prst="ellipse">
            <a:avLst/>
          </a:prstGeom>
          <a:solidFill>
            <a:srgbClr val="3DBE8B"/>
          </a:solidFill>
          <a:ln w="12700">
            <a:solidFill>
              <a:srgbClr val="3DBE8B"/>
            </a:solidFill>
            <a:prstDash val="solid"/>
          </a:ln>
        </p:spPr>
      </p:sp>
      <p:sp>
        <p:nvSpPr>
          <p:cNvPr id="9" name="Text 7"/>
          <p:cNvSpPr txBox="1"/>
          <p:nvPr/>
        </p:nvSpPr>
        <p:spPr>
          <a:xfrm>
            <a:off x="5632704" y="2267712"/>
            <a:ext cx="2944368" cy="329184"/>
          </a:xfrm>
          <a:prstGeom prst="rect">
            <a:avLst/>
          </a:prstGeom>
          <a:noFill/>
          <a:ln/>
        </p:spPr>
        <p:txBody>
          <a:bodyPr wrap="square" lIns="0" tIns="0" rIns="0" bIns="0" rtlCol="0" anchor="ctr"/>
          <a:lstStyle/>
          <a:p>
            <a:pPr indent="0" marL="0">
              <a:buNone/>
            </a:pPr>
            <a:r>
              <a:rPr lang="en-US" sz="1900" b="1" dirty="0">
                <a:solidFill>
                  <a:srgbClr val="E9EDF2"/>
                </a:solidFill>
                <a:latin typeface="Arial" pitchFamily="34" charset="0"/>
                <a:ea typeface="Arial" pitchFamily="34" charset="-122"/>
                <a:cs typeface="Arial" pitchFamily="34" charset="-120"/>
              </a:rPr>
              <a:t>poc/</a:t>
            </a:r>
            <a:endParaRPr lang="en-US" sz="1900" dirty="0"/>
          </a:p>
        </p:txBody>
      </p:sp>
      <p:sp>
        <p:nvSpPr>
          <p:cNvPr id="10" name="Text 8"/>
          <p:cNvSpPr txBox="1"/>
          <p:nvPr/>
        </p:nvSpPr>
        <p:spPr>
          <a:xfrm>
            <a:off x="5632704" y="2615184"/>
            <a:ext cx="2944368" cy="566928"/>
          </a:xfrm>
          <a:prstGeom prst="rect">
            <a:avLst/>
          </a:prstGeom>
          <a:noFill/>
          <a:ln/>
        </p:spPr>
        <p:txBody>
          <a:bodyPr wrap="square" lIns="0" tIns="0" rIns="0" bIns="0" rtlCol="0" anchor="t"/>
          <a:lstStyle/>
          <a:p>
            <a:pPr indent="0" marL="0">
              <a:lnSpc>
                <a:spcPct val="105000"/>
              </a:lnSpc>
              <a:buNone/>
            </a:pPr>
            <a:r>
              <a:rPr lang="en-US" sz="1600" dirty="0">
                <a:solidFill>
                  <a:srgbClr val="97A3B1"/>
                </a:solidFill>
                <a:latin typeface="Calibri" pitchFamily="34" charset="0"/>
                <a:ea typeface="Calibri" pitchFamily="34" charset="-122"/>
                <a:cs typeface="Calibri" pitchFamily="34" charset="-120"/>
              </a:rPr>
              <a:t>An offline calculator simulation of the same loop.</a:t>
            </a:r>
            <a:endParaRPr lang="en-US" sz="1600" dirty="0"/>
          </a:p>
        </p:txBody>
      </p:sp>
      <p:sp>
        <p:nvSpPr>
          <p:cNvPr id="11" name="Shape 9"/>
          <p:cNvSpPr/>
          <p:nvPr/>
        </p:nvSpPr>
        <p:spPr>
          <a:xfrm>
            <a:off x="5358384" y="3355848"/>
            <a:ext cx="118872" cy="118872"/>
          </a:xfrm>
          <a:prstGeom prst="ellipse">
            <a:avLst/>
          </a:prstGeom>
          <a:solidFill>
            <a:srgbClr val="97A3B1"/>
          </a:solidFill>
          <a:ln w="12700">
            <a:solidFill>
              <a:srgbClr val="97A3B1"/>
            </a:solidFill>
            <a:prstDash val="solid"/>
          </a:ln>
        </p:spPr>
      </p:sp>
      <p:sp>
        <p:nvSpPr>
          <p:cNvPr id="12" name="Text 10"/>
          <p:cNvSpPr txBox="1"/>
          <p:nvPr/>
        </p:nvSpPr>
        <p:spPr>
          <a:xfrm>
            <a:off x="5632704" y="3236976"/>
            <a:ext cx="2944368" cy="329184"/>
          </a:xfrm>
          <a:prstGeom prst="rect">
            <a:avLst/>
          </a:prstGeom>
          <a:noFill/>
          <a:ln/>
        </p:spPr>
        <p:txBody>
          <a:bodyPr wrap="square" lIns="0" tIns="0" rIns="0" bIns="0" rtlCol="0" anchor="ctr"/>
          <a:lstStyle/>
          <a:p>
            <a:pPr indent="0" marL="0">
              <a:buNone/>
            </a:pPr>
            <a:r>
              <a:rPr lang="en-US" sz="1900" b="1" dirty="0">
                <a:solidFill>
                  <a:srgbClr val="E9EDF2"/>
                </a:solidFill>
                <a:latin typeface="Arial" pitchFamily="34" charset="0"/>
                <a:ea typeface="Arial" pitchFamily="34" charset="-122"/>
                <a:cs typeface="Arial" pitchFamily="34" charset="-120"/>
              </a:rPr>
              <a:t>ghuntley.com/ralph</a:t>
            </a:r>
            <a:endParaRPr lang="en-US" sz="1900" dirty="0"/>
          </a:p>
        </p:txBody>
      </p:sp>
      <p:sp>
        <p:nvSpPr>
          <p:cNvPr id="13" name="Text 11"/>
          <p:cNvSpPr txBox="1"/>
          <p:nvPr/>
        </p:nvSpPr>
        <p:spPr>
          <a:xfrm>
            <a:off x="5632704" y="3584448"/>
            <a:ext cx="2944368" cy="566928"/>
          </a:xfrm>
          <a:prstGeom prst="rect">
            <a:avLst/>
          </a:prstGeom>
          <a:noFill/>
          <a:ln/>
        </p:spPr>
        <p:txBody>
          <a:bodyPr wrap="square" lIns="0" tIns="0" rIns="0" bIns="0" rtlCol="0" anchor="t"/>
          <a:lstStyle/>
          <a:p>
            <a:pPr indent="0" marL="0">
              <a:lnSpc>
                <a:spcPct val="105000"/>
              </a:lnSpc>
              <a:buNone/>
            </a:pPr>
            <a:r>
              <a:rPr lang="en-US" sz="1600" dirty="0">
                <a:solidFill>
                  <a:srgbClr val="97A3B1"/>
                </a:solidFill>
                <a:latin typeface="Calibri" pitchFamily="34" charset="0"/>
                <a:ea typeface="Calibri" pitchFamily="34" charset="-122"/>
                <a:cs typeface="Calibri" pitchFamily="34" charset="-120"/>
              </a:rPr>
              <a:t>Geoffrey Huntley's original concept.</a:t>
            </a:r>
            <a:endParaRPr lang="en-US" sz="1600" dirty="0"/>
          </a:p>
        </p:txBody>
      </p:sp>
      <p:sp>
        <p:nvSpPr>
          <p:cNvPr id="14" name="Text 12"/>
          <p:cNvSpPr txBox="1"/>
          <p:nvPr/>
        </p:nvSpPr>
        <p:spPr>
          <a:xfrm>
            <a:off x="566928" y="4407408"/>
            <a:ext cx="4663440" cy="292608"/>
          </a:xfrm>
          <a:prstGeom prst="rect">
            <a:avLst/>
          </a:prstGeom>
          <a:noFill/>
          <a:ln/>
        </p:spPr>
        <p:txBody>
          <a:bodyPr wrap="square" lIns="0" tIns="0" rIns="0" bIns="0" rtlCol="0" anchor="ctr"/>
          <a:lstStyle/>
          <a:p>
            <a:pPr indent="0" marL="0">
              <a:buNone/>
            </a:pPr>
            <a:r>
              <a:rPr lang="en-US" sz="1400" dirty="0">
                <a:solidFill>
                  <a:srgbClr val="97A3B1"/>
                </a:solidFill>
                <a:latin typeface="Calibri" pitchFamily="34" charset="0"/>
                <a:ea typeface="Calibri" pitchFamily="34" charset="-122"/>
                <a:cs typeface="Calibri" pitchFamily="34" charset="-120"/>
              </a:rPr>
              <a:t>This demo adds its own guardrails to that loop pattern.</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Ralph Loop</dc:title>
  <dc:subject>PptxGenJS Presentation</dc:subject>
  <dc:creator>Ralph Loop talk</dc:creator>
  <cp:lastModifiedBy>Ralph Loop talk</cp:lastModifiedBy>
  <cp:revision>1</cp:revision>
  <dcterms:created xsi:type="dcterms:W3CDTF">2026-09-23T19:37:58Z</dcterms:created>
  <dcterms:modified xsi:type="dcterms:W3CDTF">2026-09-23T19:37:58Z</dcterms:modified>
</cp:coreProperties>
</file>